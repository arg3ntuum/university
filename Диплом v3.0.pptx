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7"/>
  </p:notesMasterIdLst>
  <p:sldIdLst>
    <p:sldId id="256" r:id="rId2"/>
    <p:sldId id="261" r:id="rId3"/>
    <p:sldId id="259" r:id="rId4"/>
    <p:sldId id="260" r:id="rId5"/>
    <p:sldId id="262" r:id="rId6"/>
    <p:sldId id="263" r:id="rId7"/>
    <p:sldId id="264" r:id="rId8"/>
    <p:sldId id="265" r:id="rId9"/>
    <p:sldId id="267" r:id="rId10"/>
    <p:sldId id="268" r:id="rId11"/>
    <p:sldId id="269" r:id="rId12"/>
    <p:sldId id="270" r:id="rId13"/>
    <p:sldId id="271" r:id="rId14"/>
    <p:sldId id="279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>
        <p:scale>
          <a:sx n="75" d="100"/>
          <a:sy n="75" d="100"/>
        </p:scale>
        <p:origin x="81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5CFC3-E18B-47FC-97C7-CA6BE58AECE2}" type="datetimeFigureOut">
              <a:rPr lang="uk-UA" smtClean="0"/>
              <a:t>15.06.2025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429ED7-8046-4FA8-B436-81222B06EFF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03252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Добрий день, вельмишановна комісія. Студент Долгов Захар представляє Вашій увазі презентацію моєї роботи: «Програмування мікроконтролера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Arduino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від апаратної складової до мережевих взаємодій»</a:t>
            </a:r>
            <a:endParaRPr lang="ru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872A0-23D1-4FE9-B2D2-A08007C8B39D}" type="datetimeFigureOut">
              <a:rPr lang="uk-UA" smtClean="0"/>
              <a:t>15.06.2025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C5E6-3664-4C77-AF62-9F6DC6659E8C}" type="slidenum">
              <a:rPr lang="uk-UA" smtClean="0"/>
              <a:t>‹№›</a:t>
            </a:fld>
            <a:endParaRPr lang="uk-U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29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872A0-23D1-4FE9-B2D2-A08007C8B39D}" type="datetimeFigureOut">
              <a:rPr lang="uk-UA" smtClean="0"/>
              <a:t>15.06.2025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C5E6-3664-4C77-AF62-9F6DC6659E8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8995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Назва розділ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872A0-23D1-4FE9-B2D2-A08007C8B39D}" type="datetimeFigureOut">
              <a:rPr lang="uk-UA" smtClean="0"/>
              <a:t>15.06.2025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C5E6-3664-4C77-AF62-9F6DC6659E8C}" type="slidenum">
              <a:rPr lang="uk-UA" smtClean="0"/>
              <a:t>‹№›</a:t>
            </a:fld>
            <a:endParaRPr lang="uk-U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5890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872A0-23D1-4FE9-B2D2-A08007C8B39D}" type="datetimeFigureOut">
              <a:rPr lang="uk-UA" smtClean="0"/>
              <a:t>15.06.2025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C5E6-3664-4C77-AF62-9F6DC6659E8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91148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872A0-23D1-4FE9-B2D2-A08007C8B39D}" type="datetimeFigureOut">
              <a:rPr lang="uk-UA" smtClean="0"/>
              <a:t>15.06.2025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C5E6-3664-4C77-AF62-9F6DC6659E8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78079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872A0-23D1-4FE9-B2D2-A08007C8B39D}" type="datetimeFigureOut">
              <a:rPr lang="uk-UA" smtClean="0"/>
              <a:t>15.06.2025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C5E6-3664-4C77-AF62-9F6DC6659E8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04321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872A0-23D1-4FE9-B2D2-A08007C8B39D}" type="datetimeFigureOut">
              <a:rPr lang="uk-UA" smtClean="0"/>
              <a:t>15.06.2025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C5E6-3664-4C77-AF62-9F6DC6659E8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03522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F0872A0-23D1-4FE9-B2D2-A08007C8B39D}" type="datetimeFigureOut">
              <a:rPr lang="uk-UA" smtClean="0"/>
              <a:t>15.06.2025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26CC5E6-3664-4C77-AF62-9F6DC6659E8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15955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872A0-23D1-4FE9-B2D2-A08007C8B39D}" type="datetimeFigureOut">
              <a:rPr lang="uk-UA" smtClean="0"/>
              <a:t>15.06.2025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C5E6-3664-4C77-AF62-9F6DC6659E8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88454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872A0-23D1-4FE9-B2D2-A08007C8B39D}" type="datetimeFigureOut">
              <a:rPr lang="uk-UA" smtClean="0"/>
              <a:t>15.06.2025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C5E6-3664-4C77-AF62-9F6DC6659E8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91197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872A0-23D1-4FE9-B2D2-A08007C8B39D}" type="datetimeFigureOut">
              <a:rPr lang="uk-UA" smtClean="0"/>
              <a:t>15.06.2025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C5E6-3664-4C77-AF62-9F6DC6659E8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27319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F0872A0-23D1-4FE9-B2D2-A08007C8B39D}" type="datetimeFigureOut">
              <a:rPr lang="uk-UA" smtClean="0"/>
              <a:t>15.06.2025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26CC5E6-3664-4C77-AF62-9F6DC6659E8C}" type="slidenum">
              <a:rPr lang="uk-UA" smtClean="0"/>
              <a:t>‹№›</a:t>
            </a:fld>
            <a:endParaRPr lang="uk-UA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1042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04608">
            <a:off x="-4186506" y="2490426"/>
            <a:ext cx="7670363" cy="7363548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20953" y="2136437"/>
            <a:ext cx="11150095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uk-UA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Застосування сучасних інструментів та бібліотек для автоматизації тестування програмного забезпечення на платформі 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Java</a:t>
            </a:r>
            <a:endParaRPr lang="en-US" sz="3334" dirty="0">
              <a:solidFill>
                <a:srgbClr val="000000"/>
              </a:solidFill>
              <a:latin typeface="Georgia" panose="02040502050405020303" pitchFamily="18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446242" y="4320395"/>
            <a:ext cx="4649758" cy="1538069"/>
            <a:chOff x="0" y="-28575"/>
            <a:chExt cx="9299516" cy="3076139"/>
          </a:xfrm>
        </p:grpSpPr>
        <p:sp>
          <p:nvSpPr>
            <p:cNvPr id="5" name="TextBox 5"/>
            <p:cNvSpPr txBox="1"/>
            <p:nvPr/>
          </p:nvSpPr>
          <p:spPr>
            <a:xfrm>
              <a:off x="0" y="628439"/>
              <a:ext cx="9299516" cy="24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426"/>
                </a:lnSpc>
              </a:pPr>
              <a:r>
                <a:rPr lang="uk-UA" sz="1866" dirty="0">
                  <a:solidFill>
                    <a:srgbClr val="000000"/>
                  </a:solidFill>
                  <a:latin typeface="Georgia" panose="02040502050405020303" pitchFamily="18" charset="0"/>
                </a:rPr>
                <a:t>Шейко Р. О.</a:t>
              </a:r>
              <a:endParaRPr lang="en-US" sz="1866" dirty="0">
                <a:solidFill>
                  <a:srgbClr val="000000"/>
                </a:solidFill>
                <a:latin typeface="Georgia" panose="02040502050405020303" pitchFamily="18" charset="0"/>
              </a:endParaRPr>
            </a:p>
            <a:p>
              <a:pPr>
                <a:lnSpc>
                  <a:spcPts val="2426"/>
                </a:lnSpc>
              </a:pPr>
              <a:r>
                <a:rPr lang="en-US" sz="1866" dirty="0" err="1">
                  <a:solidFill>
                    <a:srgbClr val="000000"/>
                  </a:solidFill>
                  <a:latin typeface="Georgia" panose="02040502050405020303" pitchFamily="18" charset="0"/>
                </a:rPr>
                <a:t>студент</a:t>
              </a:r>
              <a:r>
                <a:rPr lang="en-US" sz="1866" dirty="0">
                  <a:solidFill>
                    <a:srgbClr val="000000"/>
                  </a:solidFill>
                  <a:latin typeface="Georgia" panose="02040502050405020303" pitchFamily="18" charset="0"/>
                </a:rPr>
                <a:t> </a:t>
              </a:r>
              <a:r>
                <a:rPr lang="en-US" sz="1866" dirty="0" err="1">
                  <a:solidFill>
                    <a:srgbClr val="000000"/>
                  </a:solidFill>
                  <a:latin typeface="Georgia" panose="02040502050405020303" pitchFamily="18" charset="0"/>
                </a:rPr>
                <a:t>групи</a:t>
              </a:r>
              <a:r>
                <a:rPr lang="en-US" sz="1866" dirty="0">
                  <a:solidFill>
                    <a:srgbClr val="000000"/>
                  </a:solidFill>
                  <a:latin typeface="Georgia" panose="02040502050405020303" pitchFamily="18" charset="0"/>
                </a:rPr>
                <a:t> КІ-2</a:t>
              </a:r>
              <a:r>
                <a:rPr lang="uk-UA" sz="1866" dirty="0">
                  <a:solidFill>
                    <a:srgbClr val="000000"/>
                  </a:solidFill>
                  <a:latin typeface="Georgia" panose="02040502050405020303" pitchFamily="18" charset="0"/>
                </a:rPr>
                <a:t>1</a:t>
              </a:r>
              <a:r>
                <a:rPr lang="en-US" sz="1866" dirty="0">
                  <a:solidFill>
                    <a:srgbClr val="000000"/>
                  </a:solidFill>
                  <a:latin typeface="Georgia" panose="02040502050405020303" pitchFamily="18" charset="0"/>
                </a:rPr>
                <a:t>-1</a:t>
              </a:r>
            </a:p>
            <a:p>
              <a:pPr>
                <a:lnSpc>
                  <a:spcPts val="2426"/>
                </a:lnSpc>
              </a:pPr>
              <a:r>
                <a:rPr lang="en-US" sz="1866" dirty="0" err="1">
                  <a:solidFill>
                    <a:srgbClr val="000000"/>
                  </a:solidFill>
                  <a:latin typeface="Georgia" panose="02040502050405020303" pitchFamily="18" charset="0"/>
                </a:rPr>
                <a:t>спеціальність</a:t>
              </a:r>
              <a:r>
                <a:rPr lang="en-US" sz="1866" dirty="0">
                  <a:solidFill>
                    <a:srgbClr val="000000"/>
                  </a:solidFill>
                  <a:latin typeface="Georgia" panose="02040502050405020303" pitchFamily="18" charset="0"/>
                </a:rPr>
                <a:t> 123</a:t>
              </a:r>
            </a:p>
            <a:p>
              <a:pPr>
                <a:lnSpc>
                  <a:spcPts val="2426"/>
                </a:lnSpc>
              </a:pPr>
              <a:r>
                <a:rPr lang="en-US" sz="1866" dirty="0" err="1">
                  <a:solidFill>
                    <a:srgbClr val="000000"/>
                  </a:solidFill>
                  <a:latin typeface="Georgia" panose="02040502050405020303" pitchFamily="18" charset="0"/>
                </a:rPr>
                <a:t>Комп’ютерна</a:t>
              </a:r>
              <a:r>
                <a:rPr lang="en-US" sz="1866" dirty="0">
                  <a:solidFill>
                    <a:srgbClr val="000000"/>
                  </a:solidFill>
                  <a:latin typeface="Georgia" panose="02040502050405020303" pitchFamily="18" charset="0"/>
                </a:rPr>
                <a:t> </a:t>
              </a:r>
              <a:r>
                <a:rPr lang="en-US" sz="1866" dirty="0" err="1">
                  <a:solidFill>
                    <a:srgbClr val="000000"/>
                  </a:solidFill>
                  <a:latin typeface="Georgia" panose="02040502050405020303" pitchFamily="18" charset="0"/>
                </a:rPr>
                <a:t>інженерія</a:t>
              </a:r>
              <a:r>
                <a:rPr lang="en-US" sz="1866" dirty="0">
                  <a:solidFill>
                    <a:srgbClr val="000000"/>
                  </a:solidFill>
                  <a:latin typeface="Georgia" panose="02040502050405020303" pitchFamily="18" charset="0"/>
                </a:rPr>
                <a:t>"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9299516" cy="5724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426"/>
                </a:lnSpc>
              </a:pPr>
              <a:r>
                <a:rPr lang="en-US" sz="1866" dirty="0" err="1">
                  <a:solidFill>
                    <a:srgbClr val="000000"/>
                  </a:solidFill>
                  <a:latin typeface="Georgia" panose="02040502050405020303" pitchFamily="18" charset="0"/>
                </a:rPr>
                <a:t>Виконавець</a:t>
              </a:r>
              <a:r>
                <a:rPr lang="en-US" sz="1866" dirty="0">
                  <a:solidFill>
                    <a:srgbClr val="000000"/>
                  </a:solidFill>
                  <a:latin typeface="Georgia" panose="02040502050405020303" pitchFamily="18" charset="0"/>
                </a:rPr>
                <a:t>:</a:t>
              </a:r>
            </a:p>
          </p:txBody>
        </p:sp>
      </p:grpSp>
      <p:sp>
        <p:nvSpPr>
          <p:cNvPr id="7" name="Freeform 7"/>
          <p:cNvSpPr/>
          <p:nvPr/>
        </p:nvSpPr>
        <p:spPr>
          <a:xfrm rot="10586968">
            <a:off x="10227499" y="-2059589"/>
            <a:ext cx="8314577" cy="7981994"/>
          </a:xfrm>
          <a:custGeom>
            <a:avLst/>
            <a:gdLst/>
            <a:ahLst/>
            <a:cxnLst/>
            <a:rect l="l" t="t" r="r" b="b"/>
            <a:pathLst>
              <a:path w="12471866" h="11972991">
                <a:moveTo>
                  <a:pt x="0" y="0"/>
                </a:moveTo>
                <a:lnTo>
                  <a:pt x="12471866" y="0"/>
                </a:lnTo>
                <a:lnTo>
                  <a:pt x="12471866" y="11972991"/>
                </a:lnTo>
                <a:lnTo>
                  <a:pt x="0" y="11972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948888" y="666750"/>
            <a:ext cx="8294226" cy="286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6"/>
              </a:lnSpc>
            </a:pPr>
            <a:r>
              <a:rPr lang="en-US" sz="1866" dirty="0">
                <a:solidFill>
                  <a:srgbClr val="000000"/>
                </a:solidFill>
                <a:latin typeface="Georgia" panose="02040502050405020303" pitchFamily="18" charset="0"/>
              </a:rPr>
              <a:t>ДНІПРОВСЬКИЙ НАЦІОНАЛЬНИЙ УНІВЕРСИТЕТ ІМ. О. ГОНЧАРА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048849" y="4320395"/>
            <a:ext cx="3537475" cy="1230292"/>
            <a:chOff x="0" y="-28575"/>
            <a:chExt cx="7074949" cy="2460584"/>
          </a:xfrm>
        </p:grpSpPr>
        <p:sp>
          <p:nvSpPr>
            <p:cNvPr id="10" name="TextBox 10"/>
            <p:cNvSpPr txBox="1"/>
            <p:nvPr/>
          </p:nvSpPr>
          <p:spPr>
            <a:xfrm>
              <a:off x="0" y="628439"/>
              <a:ext cx="7074949" cy="18035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426"/>
                </a:lnSpc>
              </a:pPr>
              <a:r>
                <a:rPr lang="uk-UA" sz="1866" dirty="0">
                  <a:solidFill>
                    <a:srgbClr val="000000"/>
                  </a:solidFill>
                  <a:latin typeface="Georgia" panose="02040502050405020303" pitchFamily="18" charset="0"/>
                </a:rPr>
                <a:t>Герасимов В. В.</a:t>
              </a:r>
              <a:endParaRPr lang="en-US" sz="1866" dirty="0">
                <a:solidFill>
                  <a:srgbClr val="000000"/>
                </a:solidFill>
                <a:latin typeface="Georgia" panose="02040502050405020303" pitchFamily="18" charset="0"/>
              </a:endParaRPr>
            </a:p>
            <a:p>
              <a:pPr>
                <a:lnSpc>
                  <a:spcPts val="2426"/>
                </a:lnSpc>
              </a:pPr>
              <a:r>
                <a:rPr lang="en-US" sz="1866" dirty="0">
                  <a:solidFill>
                    <a:srgbClr val="000000"/>
                  </a:solidFill>
                  <a:latin typeface="Georgia" panose="02040502050405020303" pitchFamily="18" charset="0"/>
                </a:rPr>
                <a:t>к.</a:t>
              </a:r>
              <a:r>
                <a:rPr lang="uk-UA" sz="1866" dirty="0">
                  <a:solidFill>
                    <a:srgbClr val="000000"/>
                  </a:solidFill>
                  <a:latin typeface="Georgia" panose="02040502050405020303" pitchFamily="18" charset="0"/>
                </a:rPr>
                <a:t> т. н.,</a:t>
              </a:r>
              <a:r>
                <a:rPr lang="en-US" sz="1866" dirty="0">
                  <a:solidFill>
                    <a:srgbClr val="000000"/>
                  </a:solidFill>
                  <a:latin typeface="Georgia" panose="02040502050405020303" pitchFamily="18" charset="0"/>
                </a:rPr>
                <a:t> </a:t>
              </a:r>
              <a:r>
                <a:rPr lang="en-US" sz="1866" dirty="0" err="1">
                  <a:solidFill>
                    <a:srgbClr val="000000"/>
                  </a:solidFill>
                  <a:latin typeface="Georgia" panose="02040502050405020303" pitchFamily="18" charset="0"/>
                </a:rPr>
                <a:t>доц</a:t>
              </a:r>
              <a:r>
                <a:rPr lang="en-US" sz="1866" dirty="0">
                  <a:solidFill>
                    <a:srgbClr val="000000"/>
                  </a:solidFill>
                  <a:latin typeface="Georgia" panose="02040502050405020303" pitchFamily="18" charset="0"/>
                </a:rPr>
                <a:t>., </a:t>
              </a:r>
              <a:endParaRPr lang="uk-UA" sz="1866" dirty="0">
                <a:solidFill>
                  <a:srgbClr val="000000"/>
                </a:solidFill>
                <a:latin typeface="Georgia" panose="02040502050405020303" pitchFamily="18" charset="0"/>
              </a:endParaRPr>
            </a:p>
            <a:p>
              <a:pPr>
                <a:lnSpc>
                  <a:spcPts val="2426"/>
                </a:lnSpc>
              </a:pPr>
              <a:r>
                <a:rPr lang="en-US" sz="1866" dirty="0" err="1">
                  <a:solidFill>
                    <a:srgbClr val="000000"/>
                  </a:solidFill>
                  <a:latin typeface="Georgia" panose="02040502050405020303" pitchFamily="18" charset="0"/>
                </a:rPr>
                <a:t>доц</a:t>
              </a:r>
              <a:r>
                <a:rPr lang="en-US" sz="1866" dirty="0">
                  <a:solidFill>
                    <a:srgbClr val="000000"/>
                  </a:solidFill>
                  <a:latin typeface="Georgia" panose="02040502050405020303" pitchFamily="18" charset="0"/>
                </a:rPr>
                <a:t>. </a:t>
              </a:r>
              <a:r>
                <a:rPr lang="en-US" sz="1866" dirty="0" err="1">
                  <a:solidFill>
                    <a:srgbClr val="000000"/>
                  </a:solidFill>
                  <a:latin typeface="Georgia" panose="02040502050405020303" pitchFamily="18" charset="0"/>
                </a:rPr>
                <a:t>каф</a:t>
              </a:r>
              <a:r>
                <a:rPr lang="en-US" sz="1866" dirty="0">
                  <a:solidFill>
                    <a:srgbClr val="000000"/>
                  </a:solidFill>
                  <a:latin typeface="Georgia" panose="02040502050405020303" pitchFamily="18" charset="0"/>
                </a:rPr>
                <a:t>. </a:t>
              </a:r>
              <a:r>
                <a:rPr lang="uk-UA" sz="1866" dirty="0">
                  <a:solidFill>
                    <a:srgbClr val="000000"/>
                  </a:solidFill>
                  <a:latin typeface="Georgia" panose="02040502050405020303" pitchFamily="18" charset="0"/>
                </a:rPr>
                <a:t>КЕО</a:t>
              </a:r>
              <a:endParaRPr lang="en-US" sz="1866" dirty="0">
                <a:solidFill>
                  <a:srgbClr val="000000"/>
                </a:solidFill>
                <a:latin typeface="Georgia" panose="02040502050405020303" pitchFamily="18" charset="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7074949" cy="5724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426"/>
                </a:lnSpc>
              </a:pPr>
              <a:r>
                <a:rPr lang="en-US" sz="1866" dirty="0" err="1">
                  <a:solidFill>
                    <a:srgbClr val="000000"/>
                  </a:solidFill>
                  <a:latin typeface="Georgia" panose="02040502050405020303" pitchFamily="18" charset="0"/>
                </a:rPr>
                <a:t>Керівник</a:t>
              </a:r>
              <a:r>
                <a:rPr lang="en-US" sz="1866" dirty="0">
                  <a:solidFill>
                    <a:srgbClr val="000000"/>
                  </a:solidFill>
                  <a:latin typeface="Georgia" panose="02040502050405020303" pitchFamily="18" charset="0"/>
                </a:rPr>
                <a:t>: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948888" y="947844"/>
            <a:ext cx="8294226" cy="286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6"/>
              </a:lnSpc>
            </a:pPr>
            <a:r>
              <a:rPr lang="en-US" sz="1866" dirty="0">
                <a:solidFill>
                  <a:srgbClr val="000000"/>
                </a:solidFill>
                <a:latin typeface="Georgia" panose="02040502050405020303" pitchFamily="18" charset="0"/>
              </a:rPr>
              <a:t>КАФЕДРА ЕЛЕКТРОННИХ ОБЧИСЛЮВАЛЬНИХ МАШИН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905BD16-5334-4816-83B5-FF031D7C5AFB}"/>
              </a:ext>
            </a:extLst>
          </p:cNvPr>
          <p:cNvSpPr/>
          <p:nvPr/>
        </p:nvSpPr>
        <p:spPr>
          <a:xfrm rot="-1204608">
            <a:off x="-4186506" y="2490426"/>
            <a:ext cx="7670363" cy="7363548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7">
            <a:extLst>
              <a:ext uri="{FF2B5EF4-FFF2-40B4-BE49-F238E27FC236}">
                <a16:creationId xmlns:a16="http://schemas.microsoft.com/office/drawing/2014/main" id="{41AC3F77-E7B2-4580-ABE4-DC571ED73826}"/>
              </a:ext>
            </a:extLst>
          </p:cNvPr>
          <p:cNvSpPr/>
          <p:nvPr/>
        </p:nvSpPr>
        <p:spPr>
          <a:xfrm rot="10586968">
            <a:off x="10227499" y="-2059589"/>
            <a:ext cx="8314577" cy="7981994"/>
          </a:xfrm>
          <a:custGeom>
            <a:avLst/>
            <a:gdLst/>
            <a:ahLst/>
            <a:cxnLst/>
            <a:rect l="l" t="t" r="r" b="b"/>
            <a:pathLst>
              <a:path w="12471866" h="11972991">
                <a:moveTo>
                  <a:pt x="0" y="0"/>
                </a:moveTo>
                <a:lnTo>
                  <a:pt x="12471866" y="0"/>
                </a:lnTo>
                <a:lnTo>
                  <a:pt x="12471866" y="11972991"/>
                </a:lnTo>
                <a:lnTo>
                  <a:pt x="0" y="119729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1AAF5A-FBB0-45EA-B6F3-A458F3D8B3DA}"/>
              </a:ext>
            </a:extLst>
          </p:cNvPr>
          <p:cNvSpPr txBox="1"/>
          <p:nvPr/>
        </p:nvSpPr>
        <p:spPr>
          <a:xfrm>
            <a:off x="520953" y="2136437"/>
            <a:ext cx="11150095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uk-UA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Застосування сучасних інструментів та бібліотек для автоматизації тестування програмного забезпечення на платформі 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Java</a:t>
            </a:r>
            <a:endParaRPr lang="en-US" sz="3334" dirty="0">
              <a:solidFill>
                <a:srgbClr val="000000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16CA2A-4C35-4D0F-839F-765EE4E7A855}"/>
              </a:ext>
            </a:extLst>
          </p:cNvPr>
          <p:cNvSpPr txBox="1"/>
          <p:nvPr/>
        </p:nvSpPr>
        <p:spPr>
          <a:xfrm>
            <a:off x="1615440" y="1238913"/>
            <a:ext cx="2509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800" dirty="0">
                <a:latin typeface="Georgia" panose="02040502050405020303" pitchFamily="18" charset="0"/>
              </a:rPr>
              <a:t>Яка мета?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142407-3DDC-44E5-9564-736ABB6242D6}"/>
              </a:ext>
            </a:extLst>
          </p:cNvPr>
          <p:cNvSpPr txBox="1"/>
          <p:nvPr/>
        </p:nvSpPr>
        <p:spPr>
          <a:xfrm>
            <a:off x="7183120" y="341388"/>
            <a:ext cx="2509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800" dirty="0">
                <a:latin typeface="Georgia" panose="02040502050405020303" pitchFamily="18" charset="0"/>
              </a:rPr>
              <a:t>Актуально?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C0D8DC-D296-4479-B73B-7085BEF29DE4}"/>
              </a:ext>
            </a:extLst>
          </p:cNvPr>
          <p:cNvSpPr txBox="1"/>
          <p:nvPr/>
        </p:nvSpPr>
        <p:spPr>
          <a:xfrm>
            <a:off x="6422559" y="5523714"/>
            <a:ext cx="2509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Georgia" panose="02040502050405020303" pitchFamily="18" charset="0"/>
              </a:rPr>
              <a:t>Hamcrest</a:t>
            </a:r>
            <a:endParaRPr lang="en-US" sz="2800" dirty="0">
              <a:latin typeface="Georgia" panose="020405020504050203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BCBC5C-31A3-4D42-9090-4213CA9E6BE0}"/>
              </a:ext>
            </a:extLst>
          </p:cNvPr>
          <p:cNvSpPr txBox="1"/>
          <p:nvPr/>
        </p:nvSpPr>
        <p:spPr>
          <a:xfrm>
            <a:off x="1766588" y="3932405"/>
            <a:ext cx="2509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Georgia" panose="02040502050405020303" pitchFamily="18" charset="0"/>
              </a:rPr>
              <a:t>JUnit 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84F6F7-3FAC-4F78-97C5-A83A56DD33C0}"/>
              </a:ext>
            </a:extLst>
          </p:cNvPr>
          <p:cNvSpPr txBox="1"/>
          <p:nvPr/>
        </p:nvSpPr>
        <p:spPr>
          <a:xfrm>
            <a:off x="8401253" y="4138930"/>
            <a:ext cx="2509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Georgia" panose="02040502050405020303" pitchFamily="18" charset="0"/>
              </a:rPr>
              <a:t>Mockito</a:t>
            </a:r>
          </a:p>
        </p:txBody>
      </p:sp>
    </p:spTree>
    <p:extLst>
      <p:ext uri="{BB962C8B-B14F-4D97-AF65-F5344CB8AC3E}">
        <p14:creationId xmlns:p14="http://schemas.microsoft.com/office/powerpoint/2010/main" val="1166494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2"/>
          <a:srcRect l="-2355" t="1975" r="20606" b="-1975"/>
          <a:stretch/>
        </p:blipFill>
        <p:spPr>
          <a:xfrm>
            <a:off x="7327498" y="198438"/>
            <a:ext cx="4624071" cy="3967954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latin typeface="Georgia" panose="02040502050405020303" pitchFamily="18" charset="0"/>
              </a:rPr>
              <a:t>Чому </a:t>
            </a:r>
            <a:r>
              <a:rPr lang="en-US" dirty="0">
                <a:latin typeface="Georgia" panose="02040502050405020303" pitchFamily="18" charset="0"/>
              </a:rPr>
              <a:t>Java?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2102428"/>
            <a:ext cx="7315200" cy="5120640"/>
          </a:xfrm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Cross-platform</a:t>
            </a:r>
          </a:p>
          <a:p>
            <a:r>
              <a:rPr lang="en-US" dirty="0">
                <a:latin typeface="Georgia" panose="02040502050405020303" pitchFamily="18" charset="0"/>
              </a:rPr>
              <a:t>Scalability</a:t>
            </a:r>
          </a:p>
          <a:p>
            <a:r>
              <a:rPr lang="en-US" dirty="0">
                <a:latin typeface="Georgia" panose="02040502050405020303" pitchFamily="18" charset="0"/>
              </a:rPr>
              <a:t>Large community</a:t>
            </a:r>
          </a:p>
          <a:p>
            <a:r>
              <a:rPr lang="en-US" dirty="0">
                <a:latin typeface="Georgia" panose="02040502050405020303" pitchFamily="18" charset="0"/>
              </a:rPr>
              <a:t>Continuous development</a:t>
            </a:r>
          </a:p>
        </p:txBody>
      </p:sp>
      <p:sp>
        <p:nvSpPr>
          <p:cNvPr id="4" name="AutoShape 2" descr="Продвинутая Java: Введение в многопоточность в Java - YouTub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6" name="Групувати 5">
            <a:extLst>
              <a:ext uri="{FF2B5EF4-FFF2-40B4-BE49-F238E27FC236}">
                <a16:creationId xmlns:a16="http://schemas.microsoft.com/office/drawing/2014/main" id="{DCC92BDE-85B5-43A8-B292-4D400964A964}"/>
              </a:ext>
            </a:extLst>
          </p:cNvPr>
          <p:cNvGrpSpPr/>
          <p:nvPr/>
        </p:nvGrpSpPr>
        <p:grpSpPr>
          <a:xfrm>
            <a:off x="-4186506" y="-2059589"/>
            <a:ext cx="22728582" cy="11913563"/>
            <a:chOff x="-4186506" y="-2059589"/>
            <a:chExt cx="22728582" cy="11913563"/>
          </a:xfrm>
        </p:grpSpPr>
        <p:sp>
          <p:nvSpPr>
            <p:cNvPr id="7" name="Freeform 2">
              <a:extLst>
                <a:ext uri="{FF2B5EF4-FFF2-40B4-BE49-F238E27FC236}">
                  <a16:creationId xmlns:a16="http://schemas.microsoft.com/office/drawing/2014/main" id="{259DDF2F-AD42-4752-ACA2-04F5307197B7}"/>
                </a:ext>
              </a:extLst>
            </p:cNvPr>
            <p:cNvSpPr/>
            <p:nvPr/>
          </p:nvSpPr>
          <p:spPr>
            <a:xfrm rot="20678932">
              <a:off x="-4186506" y="2490426"/>
              <a:ext cx="7670363" cy="7363548"/>
            </a:xfrm>
            <a:custGeom>
              <a:avLst/>
              <a:gdLst/>
              <a:ahLst/>
              <a:cxnLst/>
              <a:rect l="l" t="t" r="r" b="b"/>
              <a:pathLst>
                <a:path w="11505544" h="11045322">
                  <a:moveTo>
                    <a:pt x="0" y="0"/>
                  </a:moveTo>
                  <a:lnTo>
                    <a:pt x="11505544" y="0"/>
                  </a:lnTo>
                  <a:lnTo>
                    <a:pt x="11505544" y="11045322"/>
                  </a:lnTo>
                  <a:lnTo>
                    <a:pt x="0" y="11045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883287FF-4477-48C2-8155-76F4A0A31D82}"/>
                </a:ext>
              </a:extLst>
            </p:cNvPr>
            <p:cNvSpPr/>
            <p:nvPr/>
          </p:nvSpPr>
          <p:spPr>
            <a:xfrm rot="10870508">
              <a:off x="10227499" y="-2059589"/>
              <a:ext cx="8314577" cy="7981994"/>
            </a:xfrm>
            <a:custGeom>
              <a:avLst/>
              <a:gdLst/>
              <a:ahLst/>
              <a:cxnLst/>
              <a:rect l="l" t="t" r="r" b="b"/>
              <a:pathLst>
                <a:path w="12471866" h="11972991">
                  <a:moveTo>
                    <a:pt x="0" y="0"/>
                  </a:moveTo>
                  <a:lnTo>
                    <a:pt x="12471866" y="0"/>
                  </a:lnTo>
                  <a:lnTo>
                    <a:pt x="12471866" y="11972991"/>
                  </a:lnTo>
                  <a:lnTo>
                    <a:pt x="0" y="11972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132521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31 0.03935 L -0.0681 0.03935 C -0.01211 0.03935 0.0569 0.10833 0.0569 0.16435 L 0.0569 0.28935 " pathEditMode="fixed" rAng="0" ptsTypes="AAAA">
                                      <p:cBhvr>
                                        <p:cTn id="6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458BB2D-7CE8-4C76-93F3-C44B37770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uk-UA" dirty="0">
                <a:latin typeface="Georgia" panose="02040502050405020303" pitchFamily="18" charset="0"/>
              </a:rPr>
              <a:t>Чому ці фреймворки для тестування?</a:t>
            </a:r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5C062E4-DB7A-4B1C-9144-4734B3F02BE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643" y="1838959"/>
            <a:ext cx="5588714" cy="431392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Freeform 2">
            <a:extLst>
              <a:ext uri="{FF2B5EF4-FFF2-40B4-BE49-F238E27FC236}">
                <a16:creationId xmlns:a16="http://schemas.microsoft.com/office/drawing/2014/main" id="{5D748B3D-3F56-409E-AC9E-41B651D3C815}"/>
              </a:ext>
            </a:extLst>
          </p:cNvPr>
          <p:cNvSpPr/>
          <p:nvPr/>
        </p:nvSpPr>
        <p:spPr>
          <a:xfrm rot="20678932">
            <a:off x="-3932506" y="4430987"/>
            <a:ext cx="7670363" cy="7363548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2EA12E4B-3DC1-459D-B4DE-D53FB500B232}"/>
              </a:ext>
            </a:extLst>
          </p:cNvPr>
          <p:cNvSpPr/>
          <p:nvPr/>
        </p:nvSpPr>
        <p:spPr>
          <a:xfrm rot="10870508">
            <a:off x="10481499" y="-119028"/>
            <a:ext cx="8314577" cy="7981994"/>
          </a:xfrm>
          <a:custGeom>
            <a:avLst/>
            <a:gdLst/>
            <a:ahLst/>
            <a:cxnLst/>
            <a:rect l="l" t="t" r="r" b="b"/>
            <a:pathLst>
              <a:path w="12471866" h="11972991">
                <a:moveTo>
                  <a:pt x="0" y="0"/>
                </a:moveTo>
                <a:lnTo>
                  <a:pt x="12471866" y="0"/>
                </a:lnTo>
                <a:lnTo>
                  <a:pt x="12471866" y="11972991"/>
                </a:lnTo>
                <a:lnTo>
                  <a:pt x="0" y="11972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976948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458BB2D-7CE8-4C76-93F3-C44B37770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uk-UA" dirty="0">
                <a:latin typeface="Georgia" panose="02040502050405020303" pitchFamily="18" charset="0"/>
              </a:rPr>
              <a:t>Які ще варіанти програм для тестування були розглянуті?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896B55-B163-4A5F-950F-E9DD861AA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280" y="1768139"/>
            <a:ext cx="1057656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uk-UA" altLang="uk-UA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Проаналізовано програми </a:t>
            </a:r>
            <a:r>
              <a:rPr kumimoji="0" lang="en-US" altLang="uk-UA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UI </a:t>
            </a:r>
            <a:r>
              <a:rPr kumimoji="0" lang="uk-UA" altLang="uk-UA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тестування: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uk-UA" altLang="uk-UA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Selenium</a:t>
            </a:r>
            <a:r>
              <a:rPr kumimoji="0" lang="uk-UA" altLang="uk-UA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,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uk-UA" altLang="uk-UA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Appium</a:t>
            </a:r>
            <a:r>
              <a:rPr kumimoji="0" lang="uk-UA" altLang="uk-UA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,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uk-UA" altLang="uk-UA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Cypress</a:t>
            </a:r>
            <a:r>
              <a:rPr kumimoji="0" lang="uk-UA" altLang="uk-UA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,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uk-UA" altLang="uk-UA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Postman</a:t>
            </a:r>
            <a:r>
              <a:rPr kumimoji="0" lang="uk-UA" altLang="uk-UA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</a:t>
            </a:r>
          </a:p>
        </p:txBody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3DF783A1-D711-491B-9189-6C6DA9B4DA9E}"/>
              </a:ext>
            </a:extLst>
          </p:cNvPr>
          <p:cNvSpPr/>
          <p:nvPr/>
        </p:nvSpPr>
        <p:spPr>
          <a:xfrm rot="-1204608">
            <a:off x="-4186506" y="2490426"/>
            <a:ext cx="7670363" cy="7363548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724313CD-9389-45BC-8A84-F631427A3FB8}"/>
              </a:ext>
            </a:extLst>
          </p:cNvPr>
          <p:cNvSpPr/>
          <p:nvPr/>
        </p:nvSpPr>
        <p:spPr>
          <a:xfrm rot="10586968">
            <a:off x="10227499" y="-2059589"/>
            <a:ext cx="8314577" cy="7981994"/>
          </a:xfrm>
          <a:custGeom>
            <a:avLst/>
            <a:gdLst/>
            <a:ahLst/>
            <a:cxnLst/>
            <a:rect l="l" t="t" r="r" b="b"/>
            <a:pathLst>
              <a:path w="12471866" h="11972991">
                <a:moveTo>
                  <a:pt x="0" y="0"/>
                </a:moveTo>
                <a:lnTo>
                  <a:pt x="12471866" y="0"/>
                </a:lnTo>
                <a:lnTo>
                  <a:pt x="12471866" y="11972991"/>
                </a:lnTo>
                <a:lnTo>
                  <a:pt x="0" y="119729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173763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94C25E3-A5C8-41D6-9611-15967DF7B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</p:spPr>
        <p:txBody>
          <a:bodyPr/>
          <a:lstStyle/>
          <a:p>
            <a:r>
              <a:rPr lang="uk-UA" dirty="0">
                <a:latin typeface="Georgia" panose="02040502050405020303" pitchFamily="18" charset="0"/>
              </a:rPr>
              <a:t>Які види і методи тестування існують?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854BD61-9E05-4EDF-9A6F-D63941D66C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07943" y="1890613"/>
            <a:ext cx="7576113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uk-UA" altLang="uk-U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1. Методи тестування</a:t>
            </a: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Ручне</a:t>
            </a: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+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Гнучкість, виявлення непередбачених дефектів.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–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Повільно, висока вартість, ризик людської помилки.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Автоматизоване</a:t>
            </a: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+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Швидкість, повторюваність, ефективність для регресії.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Обрано як основний фокус роботи.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uk-UA" altLang="uk-U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2. Основні види автоматизованого тестування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Функціональне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Регресійне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Продуктивності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Безпеки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Зручності використання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Та інші види</a:t>
            </a: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2D300D2C-87E8-4437-A50F-35CECB115973}"/>
              </a:ext>
            </a:extLst>
          </p:cNvPr>
          <p:cNvSpPr/>
          <p:nvPr/>
        </p:nvSpPr>
        <p:spPr>
          <a:xfrm rot="-1204608">
            <a:off x="-4707365" y="-4118720"/>
            <a:ext cx="7670363" cy="7363548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C6ADD3C-03D0-4E37-A966-94BE9EFA9EEA}"/>
              </a:ext>
            </a:extLst>
          </p:cNvPr>
          <p:cNvSpPr/>
          <p:nvPr/>
        </p:nvSpPr>
        <p:spPr>
          <a:xfrm rot="10586968">
            <a:off x="9799237" y="2579665"/>
            <a:ext cx="8314577" cy="7981994"/>
          </a:xfrm>
          <a:custGeom>
            <a:avLst/>
            <a:gdLst/>
            <a:ahLst/>
            <a:cxnLst/>
            <a:rect l="l" t="t" r="r" b="b"/>
            <a:pathLst>
              <a:path w="12471866" h="11972991">
                <a:moveTo>
                  <a:pt x="0" y="0"/>
                </a:moveTo>
                <a:lnTo>
                  <a:pt x="12471866" y="0"/>
                </a:lnTo>
                <a:lnTo>
                  <a:pt x="12471866" y="11972991"/>
                </a:lnTo>
                <a:lnTo>
                  <a:pt x="0" y="119729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520204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>
            <a:extLst>
              <a:ext uri="{FF2B5EF4-FFF2-40B4-BE49-F238E27FC236}">
                <a16:creationId xmlns:a16="http://schemas.microsoft.com/office/drawing/2014/main" id="{DB5EFACC-4E1F-4C86-BF2A-1D30E7E2483A}"/>
              </a:ext>
            </a:extLst>
          </p:cNvPr>
          <p:cNvSpPr/>
          <p:nvPr/>
        </p:nvSpPr>
        <p:spPr>
          <a:xfrm rot="10586968">
            <a:off x="9799237" y="2579665"/>
            <a:ext cx="8314577" cy="7981994"/>
          </a:xfrm>
          <a:custGeom>
            <a:avLst/>
            <a:gdLst/>
            <a:ahLst/>
            <a:cxnLst/>
            <a:rect l="l" t="t" r="r" b="b"/>
            <a:pathLst>
              <a:path w="12471866" h="11972991">
                <a:moveTo>
                  <a:pt x="0" y="0"/>
                </a:moveTo>
                <a:lnTo>
                  <a:pt x="12471866" y="0"/>
                </a:lnTo>
                <a:lnTo>
                  <a:pt x="12471866" y="11972991"/>
                </a:lnTo>
                <a:lnTo>
                  <a:pt x="0" y="119729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FB98FC36-B959-4212-AD20-FFEB1183C37C}"/>
              </a:ext>
            </a:extLst>
          </p:cNvPr>
          <p:cNvSpPr/>
          <p:nvPr/>
        </p:nvSpPr>
        <p:spPr>
          <a:xfrm rot="-1204608">
            <a:off x="-4707365" y="-4083996"/>
            <a:ext cx="7670363" cy="7363548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D4302D-C288-4480-B145-89B4B53A74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17186" y="2922736"/>
            <a:ext cx="7957628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uk-UA" altLang="uk-UA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4. Приймальне (</a:t>
            </a:r>
            <a:r>
              <a:rPr kumimoji="0" lang="uk-UA" altLang="uk-UA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Acceptance</a:t>
            </a:r>
            <a:r>
              <a:rPr kumimoji="0" lang="uk-UA" altLang="uk-UA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)</a:t>
            </a:r>
            <a:r>
              <a:rPr kumimoji="0" lang="uk-UA" altLang="uk-U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uk-UA" altLang="uk-UA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3. Системне (</a:t>
            </a:r>
            <a:r>
              <a:rPr kumimoji="0" lang="uk-UA" altLang="uk-UA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System</a:t>
            </a:r>
            <a:r>
              <a:rPr kumimoji="0" lang="uk-UA" altLang="uk-UA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)</a:t>
            </a:r>
            <a:r>
              <a:rPr kumimoji="0" lang="uk-UA" altLang="uk-UA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uk-UA" altLang="uk-UA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2. Інтеграційне (</a:t>
            </a:r>
            <a:r>
              <a:rPr kumimoji="0" lang="uk-UA" altLang="uk-UA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Integration</a:t>
            </a:r>
            <a:r>
              <a:rPr kumimoji="0" lang="uk-UA" altLang="uk-UA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)</a:t>
            </a:r>
            <a:r>
              <a:rPr kumimoji="0" lang="uk-UA" altLang="uk-UA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uk-UA" altLang="uk-UA" sz="6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1. Модульне (</a:t>
            </a:r>
            <a:r>
              <a:rPr kumimoji="0" lang="uk-UA" altLang="uk-UA" sz="6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Unit</a:t>
            </a:r>
            <a:r>
              <a:rPr kumimoji="0" lang="uk-UA" altLang="uk-UA" sz="6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)</a:t>
            </a:r>
            <a:r>
              <a:rPr kumimoji="0" lang="uk-UA" altLang="uk-UA" sz="6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211E6143-09C1-4E40-BEF0-BA92E4351E56}"/>
              </a:ext>
            </a:extLst>
          </p:cNvPr>
          <p:cNvSpPr txBox="1">
            <a:spLocks/>
          </p:cNvSpPr>
          <p:nvPr/>
        </p:nvSpPr>
        <p:spPr>
          <a:xfrm>
            <a:off x="1096963" y="287338"/>
            <a:ext cx="9123997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dirty="0">
                <a:latin typeface="Georgia" panose="02040502050405020303" pitchFamily="18" charset="0"/>
              </a:rPr>
              <a:t>Які рівні тестування існують?</a:t>
            </a:r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243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4.81481E-6 L 0.07148 1.0585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81" y="52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1.85185E-6 L 0.00508 -0.7048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7" y="-35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0EA7A8C-503A-47F1-AB6D-12587BD2F37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8880" y="1875071"/>
            <a:ext cx="2397442" cy="2984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5" name="Рисунок 12" descr="Java Frameworks Popularity">
            <a:extLst>
              <a:ext uri="{FF2B5EF4-FFF2-40B4-BE49-F238E27FC236}">
                <a16:creationId xmlns:a16="http://schemas.microsoft.com/office/drawing/2014/main" id="{7697E5D2-4646-43D4-915C-8E256E71C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1801969"/>
            <a:ext cx="5526405" cy="3051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1B940191-A83D-4591-8B06-644F1D3D4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160" y="135651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uk-UA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83CB164-9B61-4022-A60A-8FCA30895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859617"/>
            <a:ext cx="540448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Графік популярності фреймворків для розробки на 2016 рік</a:t>
            </a: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17A431-5630-4A02-9510-844E7451C4D0}"/>
              </a:ext>
            </a:extLst>
          </p:cNvPr>
          <p:cNvSpPr txBox="1"/>
          <p:nvPr/>
        </p:nvSpPr>
        <p:spPr>
          <a:xfrm>
            <a:off x="6868160" y="4859617"/>
            <a:ext cx="4318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000" dirty="0">
                <a:solidFill>
                  <a:srgbClr val="00000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Графік популярності фреймворків для розробки на 2021 рік</a:t>
            </a:r>
            <a:endParaRPr lang="uk-UA" sz="2000" dirty="0">
              <a:latin typeface="Georgia" panose="02040502050405020303" pitchFamily="18" charset="0"/>
            </a:endParaRPr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9D6A1647-9D45-4AF5-A0B5-D095AC511C3A}"/>
              </a:ext>
            </a:extLst>
          </p:cNvPr>
          <p:cNvSpPr/>
          <p:nvPr/>
        </p:nvSpPr>
        <p:spPr>
          <a:xfrm rot="20395392">
            <a:off x="-1196603" y="935107"/>
            <a:ext cx="6469716" cy="5771363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8479F896-1301-4C42-9B7B-04D40BD1DE09}"/>
              </a:ext>
            </a:extLst>
          </p:cNvPr>
          <p:cNvSpPr/>
          <p:nvPr/>
        </p:nvSpPr>
        <p:spPr>
          <a:xfrm rot="10586968">
            <a:off x="3419649" y="2316982"/>
            <a:ext cx="7013088" cy="6256085"/>
          </a:xfrm>
          <a:custGeom>
            <a:avLst/>
            <a:gdLst/>
            <a:ahLst/>
            <a:cxnLst/>
            <a:rect l="l" t="t" r="r" b="b"/>
            <a:pathLst>
              <a:path w="12471866" h="11972991">
                <a:moveTo>
                  <a:pt x="0" y="0"/>
                </a:moveTo>
                <a:lnTo>
                  <a:pt x="12471866" y="0"/>
                </a:lnTo>
                <a:lnTo>
                  <a:pt x="12471866" y="11972991"/>
                </a:lnTo>
                <a:lnTo>
                  <a:pt x="0" y="11972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2">
            <a:extLst>
              <a:ext uri="{FF2B5EF4-FFF2-40B4-BE49-F238E27FC236}">
                <a16:creationId xmlns:a16="http://schemas.microsoft.com/office/drawing/2014/main" id="{460A84A6-4C6D-4B89-96B9-DAAC89D7AA0A}"/>
              </a:ext>
            </a:extLst>
          </p:cNvPr>
          <p:cNvSpPr/>
          <p:nvPr/>
        </p:nvSpPr>
        <p:spPr>
          <a:xfrm rot="20395392">
            <a:off x="6722488" y="3439619"/>
            <a:ext cx="4323372" cy="3251026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2">
            <a:extLst>
              <a:ext uri="{FF2B5EF4-FFF2-40B4-BE49-F238E27FC236}">
                <a16:creationId xmlns:a16="http://schemas.microsoft.com/office/drawing/2014/main" id="{595AB614-EE5A-46FB-8673-2D53E5E76AC2}"/>
              </a:ext>
            </a:extLst>
          </p:cNvPr>
          <p:cNvSpPr/>
          <p:nvPr/>
        </p:nvSpPr>
        <p:spPr>
          <a:xfrm rot="20395392">
            <a:off x="3084625" y="1107659"/>
            <a:ext cx="4323372" cy="3251026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2">
            <a:extLst>
              <a:ext uri="{FF2B5EF4-FFF2-40B4-BE49-F238E27FC236}">
                <a16:creationId xmlns:a16="http://schemas.microsoft.com/office/drawing/2014/main" id="{293BED7F-6757-487C-82FF-17011D8AABC6}"/>
              </a:ext>
            </a:extLst>
          </p:cNvPr>
          <p:cNvSpPr/>
          <p:nvPr/>
        </p:nvSpPr>
        <p:spPr>
          <a:xfrm rot="20395392">
            <a:off x="8534252" y="2380645"/>
            <a:ext cx="4323372" cy="3251026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2">
            <a:extLst>
              <a:ext uri="{FF2B5EF4-FFF2-40B4-BE49-F238E27FC236}">
                <a16:creationId xmlns:a16="http://schemas.microsoft.com/office/drawing/2014/main" id="{D6ED9F1A-5945-45D9-BE25-6C7044DC8456}"/>
              </a:ext>
            </a:extLst>
          </p:cNvPr>
          <p:cNvSpPr/>
          <p:nvPr/>
        </p:nvSpPr>
        <p:spPr>
          <a:xfrm rot="20395392">
            <a:off x="7177173" y="224444"/>
            <a:ext cx="4323372" cy="3251026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Freeform 2">
            <a:extLst>
              <a:ext uri="{FF2B5EF4-FFF2-40B4-BE49-F238E27FC236}">
                <a16:creationId xmlns:a16="http://schemas.microsoft.com/office/drawing/2014/main" id="{0EB81BE4-6382-4A2A-A86E-12BA8457BF70}"/>
              </a:ext>
            </a:extLst>
          </p:cNvPr>
          <p:cNvSpPr/>
          <p:nvPr/>
        </p:nvSpPr>
        <p:spPr>
          <a:xfrm rot="20395392">
            <a:off x="2073415" y="-485685"/>
            <a:ext cx="4629815" cy="398969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6" name="Freeform 2">
            <a:extLst>
              <a:ext uri="{FF2B5EF4-FFF2-40B4-BE49-F238E27FC236}">
                <a16:creationId xmlns:a16="http://schemas.microsoft.com/office/drawing/2014/main" id="{ECFFE826-2E0E-4E3D-961F-2D5F69F707CA}"/>
              </a:ext>
            </a:extLst>
          </p:cNvPr>
          <p:cNvSpPr/>
          <p:nvPr/>
        </p:nvSpPr>
        <p:spPr>
          <a:xfrm rot="20395392">
            <a:off x="1655544" y="3086090"/>
            <a:ext cx="4323372" cy="3251026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23CF18-C6A2-411B-B4D4-24C77B1E5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latin typeface="Georgia" panose="02040502050405020303" pitchFamily="18" charset="0"/>
              </a:rPr>
              <a:t>Який фреймворк для розробки використовувати?</a:t>
            </a:r>
          </a:p>
        </p:txBody>
      </p:sp>
    </p:spTree>
    <p:extLst>
      <p:ext uri="{BB962C8B-B14F-4D97-AF65-F5344CB8AC3E}">
        <p14:creationId xmlns:p14="http://schemas.microsoft.com/office/powerpoint/2010/main" val="4204328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xit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9" presetClass="exit" presetSubtype="0" ac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9" presetClass="exit" presetSubtype="0" ac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9" presetClass="exit" presetSubtype="0" ac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9" presetClass="exit" presetSubtype="0" ac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49" presetClass="exit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11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1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1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1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0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49" presetClass="exit" presetSubtype="0" ac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9" presetClass="exit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7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">
            <a:extLst>
              <a:ext uri="{FF2B5EF4-FFF2-40B4-BE49-F238E27FC236}">
                <a16:creationId xmlns:a16="http://schemas.microsoft.com/office/drawing/2014/main" id="{CC75CC9A-46C4-4784-ADF2-5941EE38DB3F}"/>
              </a:ext>
            </a:extLst>
          </p:cNvPr>
          <p:cNvSpPr/>
          <p:nvPr/>
        </p:nvSpPr>
        <p:spPr>
          <a:xfrm rot="20395392">
            <a:off x="-1042128" y="-1283184"/>
            <a:ext cx="4278815" cy="3642984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69201C8-32A9-4858-B30C-E5401B7A6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1672"/>
            <a:ext cx="10058400" cy="4023360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uk-UA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Простота та надійність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«</a:t>
            </a:r>
            <a:r>
              <a:rPr lang="uk-U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Жива</a:t>
            </a:r>
            <a:r>
              <a:rPr lang="uk-UA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»</a:t>
            </a:r>
            <a:r>
              <a:rPr lang="uk-U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документація</a:t>
            </a:r>
            <a:endParaRPr lang="en-US" sz="1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Наочність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Гнучкість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Галузевий стандарт та інтеграція</a:t>
            </a:r>
            <a:endParaRPr lang="uk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0A3FA5-6582-45EA-9B95-A0C3CE9A40EA}"/>
              </a:ext>
            </a:extLst>
          </p:cNvPr>
          <p:cNvSpPr txBox="1"/>
          <p:nvPr/>
        </p:nvSpPr>
        <p:spPr>
          <a:xfrm>
            <a:off x="7508240" y="1942464"/>
            <a:ext cx="3647440" cy="147732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uk-U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 фреймворк для </a:t>
            </a:r>
            <a:r>
              <a:rPr lang="uk-UA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модульного тестування (</a:t>
            </a:r>
            <a:r>
              <a:rPr lang="uk-UA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unit</a:t>
            </a:r>
            <a:r>
              <a:rPr lang="uk-UA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testing</a:t>
            </a:r>
            <a:r>
              <a:rPr lang="uk-UA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uk-U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</a:t>
            </a:r>
            <a:r>
              <a:rPr lang="uk-UA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Java</a:t>
            </a:r>
            <a:r>
              <a:rPr lang="uk-U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Його мета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uk-U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перевіряти коректність роботи окремих частин коду в ізоляції.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9860DC-0618-4212-B6F9-DB4BB7B42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Що таке </a:t>
            </a:r>
            <a:r>
              <a:rPr lang="en-US" dirty="0"/>
              <a:t>JUnit 5?</a:t>
            </a:r>
            <a:endParaRPr lang="uk-UA" dirty="0"/>
          </a:p>
        </p:txBody>
      </p:sp>
      <p:sp>
        <p:nvSpPr>
          <p:cNvPr id="24" name="Freeform 2">
            <a:extLst>
              <a:ext uri="{FF2B5EF4-FFF2-40B4-BE49-F238E27FC236}">
                <a16:creationId xmlns:a16="http://schemas.microsoft.com/office/drawing/2014/main" id="{52A8EB55-4BC4-4861-8EAC-F145576BEB74}"/>
              </a:ext>
            </a:extLst>
          </p:cNvPr>
          <p:cNvSpPr/>
          <p:nvPr/>
        </p:nvSpPr>
        <p:spPr>
          <a:xfrm rot="20395392">
            <a:off x="-797131" y="3441216"/>
            <a:ext cx="4278815" cy="3642984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25" name="Freeform 2">
            <a:extLst>
              <a:ext uri="{FF2B5EF4-FFF2-40B4-BE49-F238E27FC236}">
                <a16:creationId xmlns:a16="http://schemas.microsoft.com/office/drawing/2014/main" id="{D2CD7DC2-59A0-4B92-BA89-1F04A97F505C}"/>
              </a:ext>
            </a:extLst>
          </p:cNvPr>
          <p:cNvSpPr/>
          <p:nvPr/>
        </p:nvSpPr>
        <p:spPr>
          <a:xfrm rot="20395392">
            <a:off x="6861925" y="-1283185"/>
            <a:ext cx="4278815" cy="3642984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26" name="Freeform 2">
            <a:extLst>
              <a:ext uri="{FF2B5EF4-FFF2-40B4-BE49-F238E27FC236}">
                <a16:creationId xmlns:a16="http://schemas.microsoft.com/office/drawing/2014/main" id="{56C16A82-B8F7-437D-8A4B-29E1229D4D24}"/>
              </a:ext>
            </a:extLst>
          </p:cNvPr>
          <p:cNvSpPr/>
          <p:nvPr/>
        </p:nvSpPr>
        <p:spPr>
          <a:xfrm rot="20395392">
            <a:off x="4063335" y="2306511"/>
            <a:ext cx="2868540" cy="2438392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27" name="Freeform 2">
            <a:extLst>
              <a:ext uri="{FF2B5EF4-FFF2-40B4-BE49-F238E27FC236}">
                <a16:creationId xmlns:a16="http://schemas.microsoft.com/office/drawing/2014/main" id="{4398932B-C084-4FDA-9F08-DE8534713DE7}"/>
              </a:ext>
            </a:extLst>
          </p:cNvPr>
          <p:cNvSpPr/>
          <p:nvPr/>
        </p:nvSpPr>
        <p:spPr>
          <a:xfrm rot="20395392">
            <a:off x="8771276" y="2575401"/>
            <a:ext cx="4278815" cy="3642984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28" name="Freeform 2">
            <a:extLst>
              <a:ext uri="{FF2B5EF4-FFF2-40B4-BE49-F238E27FC236}">
                <a16:creationId xmlns:a16="http://schemas.microsoft.com/office/drawing/2014/main" id="{3CC9FD36-5CBF-417B-9B26-FC42739EC8D4}"/>
              </a:ext>
            </a:extLst>
          </p:cNvPr>
          <p:cNvSpPr/>
          <p:nvPr/>
        </p:nvSpPr>
        <p:spPr>
          <a:xfrm rot="20395392">
            <a:off x="5364006" y="3693773"/>
            <a:ext cx="4278815" cy="3642984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29" name="Freeform 2">
            <a:extLst>
              <a:ext uri="{FF2B5EF4-FFF2-40B4-BE49-F238E27FC236}">
                <a16:creationId xmlns:a16="http://schemas.microsoft.com/office/drawing/2014/main" id="{39AB8A4D-C826-4B91-9991-BC51518E7DD4}"/>
              </a:ext>
            </a:extLst>
          </p:cNvPr>
          <p:cNvSpPr/>
          <p:nvPr/>
        </p:nvSpPr>
        <p:spPr>
          <a:xfrm rot="20395392">
            <a:off x="10571816" y="505134"/>
            <a:ext cx="2395001" cy="2053198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30" name="Freeform 2">
            <a:extLst>
              <a:ext uri="{FF2B5EF4-FFF2-40B4-BE49-F238E27FC236}">
                <a16:creationId xmlns:a16="http://schemas.microsoft.com/office/drawing/2014/main" id="{2DB4CDC6-FE96-480C-B8B8-B4E52ECA00DD}"/>
              </a:ext>
            </a:extLst>
          </p:cNvPr>
          <p:cNvSpPr/>
          <p:nvPr/>
        </p:nvSpPr>
        <p:spPr>
          <a:xfrm rot="20395392">
            <a:off x="1191692" y="1110033"/>
            <a:ext cx="4278815" cy="3642984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31" name="Freeform 2">
            <a:extLst>
              <a:ext uri="{FF2B5EF4-FFF2-40B4-BE49-F238E27FC236}">
                <a16:creationId xmlns:a16="http://schemas.microsoft.com/office/drawing/2014/main" id="{DDB8C96B-A243-4630-BD73-4C03B0F7180E}"/>
              </a:ext>
            </a:extLst>
          </p:cNvPr>
          <p:cNvSpPr/>
          <p:nvPr/>
        </p:nvSpPr>
        <p:spPr>
          <a:xfrm rot="20395392">
            <a:off x="2204447" y="3716860"/>
            <a:ext cx="4278815" cy="3642984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070037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xit" presetSubtype="0" ac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7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7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8" presetClass="exit" presetSubtype="0" ac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lin" valueType="num">
                                      <p:cBhvr>
                                        <p:cTn id="10" dur="7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8" presetClass="exit" presetSubtype="0" ac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lin" valueType="num">
                                      <p:cBhvr>
                                        <p:cTn id="14" dur="7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8" presetClass="exit" presetSubtype="0" ac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lin" valueType="num">
                                      <p:cBhvr>
                                        <p:cTn id="18" dur="7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8" presetClass="exit" presetSubtype="0" ac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lin" valueType="num">
                                      <p:cBhvr>
                                        <p:cTn id="22" dur="7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8" presetClass="exit" presetSubtype="0" ac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lin" valueType="num">
                                      <p:cBhvr>
                                        <p:cTn id="26" dur="7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8" presetClass="exit" presetSubtype="0" ac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lin" valueType="num">
                                      <p:cBhvr>
                                        <p:cTn id="30" dur="7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8" presetClass="exit" presetSubtype="0" ac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lin" valueType="num">
                                      <p:cBhvr>
                                        <p:cTn id="34" dur="7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38" presetClass="exit" presetSubtype="0" ac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lin" valueType="num">
                                      <p:cBhvr>
                                        <p:cTn id="38" dur="7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3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3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3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3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68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3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74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3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80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3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3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92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3F3D18-6228-480F-B422-EAB529797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9723120" cy="1450757"/>
          </a:xfrm>
        </p:spPr>
        <p:txBody>
          <a:bodyPr/>
          <a:lstStyle/>
          <a:p>
            <a:r>
              <a:rPr lang="uk-UA" dirty="0"/>
              <a:t>Що таке </a:t>
            </a:r>
            <a:r>
              <a:rPr lang="en-US" dirty="0"/>
              <a:t>Mockito?</a:t>
            </a:r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6F53BC-3B70-4328-98BA-114FEB00B936}"/>
              </a:ext>
            </a:extLst>
          </p:cNvPr>
          <p:cNvSpPr txBox="1"/>
          <p:nvPr/>
        </p:nvSpPr>
        <p:spPr>
          <a:xfrm>
            <a:off x="8605520" y="1845734"/>
            <a:ext cx="2550160" cy="2031325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Фреймворк для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моків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(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mocks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об'єктів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імітують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поведінку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реальних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залежностей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наприклад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баз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API).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82351AE-D9DA-4A79-A5D9-5EC63106AA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784179"/>
            <a:ext cx="60452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Навіщо це потрібно?</a:t>
            </a: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kumimoji="0" lang="uk-UA" altLang="uk-U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ізоляції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тестованого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коду від зовнішніх систем.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Щоб зробити тести швидкими, надійними та незалежними від зовнішнього середовища. 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E525EB74-7EAB-4EC5-B53D-168A28E14291}"/>
              </a:ext>
            </a:extLst>
          </p:cNvPr>
          <p:cNvSpPr/>
          <p:nvPr/>
        </p:nvSpPr>
        <p:spPr>
          <a:xfrm rot="20395392">
            <a:off x="-891619" y="3219648"/>
            <a:ext cx="4278815" cy="3642984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9D6FDD00-AB2E-4D95-B824-C6519AA4BA2A}"/>
              </a:ext>
            </a:extLst>
          </p:cNvPr>
          <p:cNvSpPr/>
          <p:nvPr/>
        </p:nvSpPr>
        <p:spPr>
          <a:xfrm rot="20395392">
            <a:off x="7663017" y="2826499"/>
            <a:ext cx="843547" cy="609715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D4E9DA98-5E63-4351-89A5-FE2C5CC3BDC7}"/>
              </a:ext>
            </a:extLst>
          </p:cNvPr>
          <p:cNvSpPr/>
          <p:nvPr/>
        </p:nvSpPr>
        <p:spPr>
          <a:xfrm rot="20395392">
            <a:off x="6746688" y="2722180"/>
            <a:ext cx="843547" cy="609715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11" name="Freeform 2">
            <a:extLst>
              <a:ext uri="{FF2B5EF4-FFF2-40B4-BE49-F238E27FC236}">
                <a16:creationId xmlns:a16="http://schemas.microsoft.com/office/drawing/2014/main" id="{702E8799-1791-4E25-866C-832F407FB11C}"/>
              </a:ext>
            </a:extLst>
          </p:cNvPr>
          <p:cNvSpPr/>
          <p:nvPr/>
        </p:nvSpPr>
        <p:spPr>
          <a:xfrm rot="20395392">
            <a:off x="7009436" y="3399521"/>
            <a:ext cx="843547" cy="609715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16" name="Freeform 2">
            <a:extLst>
              <a:ext uri="{FF2B5EF4-FFF2-40B4-BE49-F238E27FC236}">
                <a16:creationId xmlns:a16="http://schemas.microsoft.com/office/drawing/2014/main" id="{89DC6450-FD4E-46BC-971B-8EE18F94E2B7}"/>
              </a:ext>
            </a:extLst>
          </p:cNvPr>
          <p:cNvSpPr/>
          <p:nvPr/>
        </p:nvSpPr>
        <p:spPr>
          <a:xfrm rot="20395392">
            <a:off x="7381943" y="2108005"/>
            <a:ext cx="843547" cy="609715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17" name="Freeform 2">
            <a:extLst>
              <a:ext uri="{FF2B5EF4-FFF2-40B4-BE49-F238E27FC236}">
                <a16:creationId xmlns:a16="http://schemas.microsoft.com/office/drawing/2014/main" id="{13E78870-6184-4E84-9863-4783D59873FB}"/>
              </a:ext>
            </a:extLst>
          </p:cNvPr>
          <p:cNvSpPr/>
          <p:nvPr/>
        </p:nvSpPr>
        <p:spPr>
          <a:xfrm rot="20395392">
            <a:off x="10645815" y="-560142"/>
            <a:ext cx="843547" cy="609715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18" name="Freeform 2">
            <a:extLst>
              <a:ext uri="{FF2B5EF4-FFF2-40B4-BE49-F238E27FC236}">
                <a16:creationId xmlns:a16="http://schemas.microsoft.com/office/drawing/2014/main" id="{0975BE98-5CDE-499F-BA27-01E53443E086}"/>
              </a:ext>
            </a:extLst>
          </p:cNvPr>
          <p:cNvSpPr/>
          <p:nvPr/>
        </p:nvSpPr>
        <p:spPr>
          <a:xfrm rot="20395392">
            <a:off x="9644225" y="-934126"/>
            <a:ext cx="843547" cy="609715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19" name="Freeform 2">
            <a:extLst>
              <a:ext uri="{FF2B5EF4-FFF2-40B4-BE49-F238E27FC236}">
                <a16:creationId xmlns:a16="http://schemas.microsoft.com/office/drawing/2014/main" id="{330D88BD-1E09-48BB-BF70-6FFE8EBC85C7}"/>
              </a:ext>
            </a:extLst>
          </p:cNvPr>
          <p:cNvSpPr/>
          <p:nvPr/>
        </p:nvSpPr>
        <p:spPr>
          <a:xfrm rot="20395392">
            <a:off x="8639900" y="-377501"/>
            <a:ext cx="843547" cy="609715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20" name="Freeform 2">
            <a:extLst>
              <a:ext uri="{FF2B5EF4-FFF2-40B4-BE49-F238E27FC236}">
                <a16:creationId xmlns:a16="http://schemas.microsoft.com/office/drawing/2014/main" id="{23467AD6-F613-4A23-B78F-418FED75D87C}"/>
              </a:ext>
            </a:extLst>
          </p:cNvPr>
          <p:cNvSpPr/>
          <p:nvPr/>
        </p:nvSpPr>
        <p:spPr>
          <a:xfrm rot="20395392">
            <a:off x="6175021" y="-254113"/>
            <a:ext cx="843547" cy="609715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21" name="Freeform 2">
            <a:extLst>
              <a:ext uri="{FF2B5EF4-FFF2-40B4-BE49-F238E27FC236}">
                <a16:creationId xmlns:a16="http://schemas.microsoft.com/office/drawing/2014/main" id="{5504C1A8-32BE-4177-9931-C81DDC5C756D}"/>
              </a:ext>
            </a:extLst>
          </p:cNvPr>
          <p:cNvSpPr/>
          <p:nvPr/>
        </p:nvSpPr>
        <p:spPr>
          <a:xfrm rot="20395392">
            <a:off x="5671491" y="-438258"/>
            <a:ext cx="843547" cy="609715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22" name="Freeform 2">
            <a:extLst>
              <a:ext uri="{FF2B5EF4-FFF2-40B4-BE49-F238E27FC236}">
                <a16:creationId xmlns:a16="http://schemas.microsoft.com/office/drawing/2014/main" id="{9592BDE7-9047-4047-9166-73A80FD256AB}"/>
              </a:ext>
            </a:extLst>
          </p:cNvPr>
          <p:cNvSpPr/>
          <p:nvPr/>
        </p:nvSpPr>
        <p:spPr>
          <a:xfrm rot="20395392">
            <a:off x="2422306" y="-431142"/>
            <a:ext cx="843547" cy="609715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37314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BE765B-AAFC-4C6D-B763-81C39533F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Що таке </a:t>
            </a:r>
            <a:r>
              <a:rPr lang="en-US" dirty="0" err="1"/>
              <a:t>Hamcrest</a:t>
            </a:r>
            <a:r>
              <a:rPr lang="en-US" dirty="0"/>
              <a:t>?</a:t>
            </a:r>
            <a:endParaRPr lang="uk-UA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C92BCF0-D0E2-4C63-9725-AFC08FDC4C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917056"/>
            <a:ext cx="776224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Бібліотека </a:t>
            </a: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матчерів</a:t>
            </a: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 (</a:t>
            </a:r>
            <a:r>
              <a:rPr kumimoji="0" lang="uk-UA" altLang="uk-U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matchers</a:t>
            </a: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що доповнює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JUnit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Мета: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Зробити перевірки в тестах більш виразними та читабельними. </a:t>
            </a: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04FC0452-5C54-434C-85B7-F0EC7F15EB76}"/>
              </a:ext>
            </a:extLst>
          </p:cNvPr>
          <p:cNvSpPr/>
          <p:nvPr/>
        </p:nvSpPr>
        <p:spPr>
          <a:xfrm rot="20395392">
            <a:off x="10116185" y="-1031668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311C5E76-9CDC-4F4B-8929-16D4DA27792D}"/>
              </a:ext>
            </a:extLst>
          </p:cNvPr>
          <p:cNvSpPr/>
          <p:nvPr/>
        </p:nvSpPr>
        <p:spPr>
          <a:xfrm rot="20395392">
            <a:off x="-1340823" y="3441448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53A71C5F-6230-4318-A89D-ECDECD8F6D2A}"/>
              </a:ext>
            </a:extLst>
          </p:cNvPr>
          <p:cNvSpPr/>
          <p:nvPr/>
        </p:nvSpPr>
        <p:spPr>
          <a:xfrm rot="20395392">
            <a:off x="10490436" y="3191857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009F1789-892D-4C62-AB3F-E35ACFF647C9}"/>
              </a:ext>
            </a:extLst>
          </p:cNvPr>
          <p:cNvSpPr/>
          <p:nvPr/>
        </p:nvSpPr>
        <p:spPr>
          <a:xfrm rot="20395392">
            <a:off x="6447012" y="3010631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BE286BB0-F783-4232-8036-718372F4EAFA}"/>
              </a:ext>
            </a:extLst>
          </p:cNvPr>
          <p:cNvSpPr/>
          <p:nvPr/>
        </p:nvSpPr>
        <p:spPr>
          <a:xfrm rot="20395392">
            <a:off x="-1026245" y="-1212894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708948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CDD0D0-AADA-41DA-8196-D2CCE66AE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Лабораторні роботи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885F3DC-1028-407F-815E-379956D041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737360"/>
            <a:ext cx="7233920" cy="1969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Структура завдань (від простого до складного):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uk-UA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uk-UA" altLang="uk-UA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Введення у тестування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uk-UA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uk-UA" altLang="uk-UA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Основи </a:t>
            </a:r>
            <a:r>
              <a:rPr kumimoji="0" lang="uk-UA" altLang="uk-UA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JUnit</a:t>
            </a:r>
            <a:r>
              <a:rPr kumimoji="0" lang="uk-UA" altLang="uk-UA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uk-UA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uk-UA" altLang="uk-UA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Розширені можливості J</a:t>
            </a:r>
            <a:r>
              <a:rPr kumimoji="0" lang="en-US" altLang="uk-UA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U</a:t>
            </a:r>
            <a:r>
              <a:rPr kumimoji="0" lang="uk-UA" altLang="uk-UA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nit</a:t>
            </a:r>
            <a:endParaRPr kumimoji="0" lang="en-US" altLang="uk-UA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uk-UA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uk-UA" altLang="uk-UA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Ізоляція з </a:t>
            </a:r>
            <a:r>
              <a:rPr kumimoji="0" lang="uk-UA" altLang="uk-UA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Mockito</a:t>
            </a:r>
            <a:endParaRPr kumimoji="0" lang="uk-UA" altLang="uk-UA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uk-UA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uk-UA" altLang="uk-UA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Читабельні тести з </a:t>
            </a:r>
            <a:r>
              <a:rPr kumimoji="0" lang="uk-UA" altLang="uk-UA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Hamcrest</a:t>
            </a:r>
            <a:endParaRPr kumimoji="0" lang="uk-UA" altLang="uk-UA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ED32A912-E3B5-4C9F-A7B8-7FC467CEB510}"/>
              </a:ext>
            </a:extLst>
          </p:cNvPr>
          <p:cNvSpPr/>
          <p:nvPr/>
        </p:nvSpPr>
        <p:spPr>
          <a:xfrm rot="20395392">
            <a:off x="-1056408" y="3441447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963E75A2-7A59-4585-9742-970BCF41EC7F}"/>
              </a:ext>
            </a:extLst>
          </p:cNvPr>
          <p:cNvSpPr/>
          <p:nvPr/>
        </p:nvSpPr>
        <p:spPr>
          <a:xfrm rot="20395392">
            <a:off x="9484980" y="-1031667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384030B8-15E9-47BE-9FBE-5E2DCB988492}"/>
              </a:ext>
            </a:extLst>
          </p:cNvPr>
          <p:cNvSpPr/>
          <p:nvPr/>
        </p:nvSpPr>
        <p:spPr>
          <a:xfrm rot="20395392">
            <a:off x="-1281021" y="-1392590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92E49437-B3AA-45EE-AFFC-0DD35C074450}"/>
              </a:ext>
            </a:extLst>
          </p:cNvPr>
          <p:cNvSpPr/>
          <p:nvPr/>
        </p:nvSpPr>
        <p:spPr>
          <a:xfrm rot="20395392">
            <a:off x="3356958" y="1076268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0C321BC5-C9B0-4D98-BAED-F6156DA7ACB5}"/>
              </a:ext>
            </a:extLst>
          </p:cNvPr>
          <p:cNvSpPr/>
          <p:nvPr/>
        </p:nvSpPr>
        <p:spPr>
          <a:xfrm rot="20395392">
            <a:off x="6660500" y="3385272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C27689DC-CE48-4DC4-9F44-4E75EB109A9B}"/>
              </a:ext>
            </a:extLst>
          </p:cNvPr>
          <p:cNvSpPr/>
          <p:nvPr/>
        </p:nvSpPr>
        <p:spPr>
          <a:xfrm rot="20395392">
            <a:off x="2147851" y="3543362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828823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3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3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0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1120A7-4440-42DE-A735-70A77DF40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Який результат виконання роботи?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DF88A0C-B005-4CC0-9828-9F406D597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280" y="1874728"/>
            <a:ext cx="8722995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Переваги досліджених інструментів:</a:t>
            </a: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Підвищення </a:t>
            </a: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надійності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та </a:t>
            </a:r>
            <a:r>
              <a:rPr kumimoji="0" lang="uk-UA" altLang="uk-UA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підтримуваності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коду.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Скорочення часу на виявлення дефектів.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Спрощення та убезпечення процесу </a:t>
            </a:r>
            <a:r>
              <a:rPr kumimoji="0" lang="uk-UA" altLang="uk-UA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рефакторингу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завдяки швидкому запуску тестів.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C0497A-2B24-497F-A8BD-BBD6E708C90B}"/>
              </a:ext>
            </a:extLst>
          </p:cNvPr>
          <p:cNvSpPr txBox="1"/>
          <p:nvPr/>
        </p:nvSpPr>
        <p:spPr>
          <a:xfrm>
            <a:off x="4559618" y="3957638"/>
            <a:ext cx="659606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Цінність розробленого методичного матеріалу:</a:t>
            </a: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Може використовуватись як </a:t>
            </a: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базовий курс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для навчання автоматизованому тестуванню на 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Java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Може слугувати </a:t>
            </a: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практичним довідником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для інженерів-</a:t>
            </a:r>
            <a:r>
              <a:rPr kumimoji="0" lang="uk-UA" altLang="uk-UA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тестувальників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</a:t>
            </a:r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6E4DE2A0-3CB6-462A-9DE8-A724B89D601A}"/>
              </a:ext>
            </a:extLst>
          </p:cNvPr>
          <p:cNvSpPr/>
          <p:nvPr/>
        </p:nvSpPr>
        <p:spPr>
          <a:xfrm rot="20395392">
            <a:off x="-1084251" y="-894879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B034C837-CA8C-4486-ACD6-2A5B08E51014}"/>
              </a:ext>
            </a:extLst>
          </p:cNvPr>
          <p:cNvSpPr/>
          <p:nvPr/>
        </p:nvSpPr>
        <p:spPr>
          <a:xfrm rot="20395392">
            <a:off x="9809456" y="-1483361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ED3CE256-9F81-4188-B253-B18A70A316A8}"/>
              </a:ext>
            </a:extLst>
          </p:cNvPr>
          <p:cNvSpPr/>
          <p:nvPr/>
        </p:nvSpPr>
        <p:spPr>
          <a:xfrm rot="20395392">
            <a:off x="-1084249" y="3441446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758716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542A0-A5B0-4D54-A53C-805C9A68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І трохи статистики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4DEECA3-B51A-40AD-8DCF-0F56F37439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720840"/>
            <a:ext cx="100584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Створено понад </a:t>
            </a: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100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деталізованих тестових сценаріїв.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Складено </a:t>
            </a: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31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унікальних контрольних запитань для перевірки знань.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Загалом написано приблизно </a:t>
            </a:r>
            <a:r>
              <a:rPr lang="uk-UA" altLang="uk-UA" sz="2400" b="1" dirty="0">
                <a:solidFill>
                  <a:schemeClr val="tx1"/>
                </a:solidFill>
                <a:latin typeface="Georgia" panose="02040502050405020303" pitchFamily="18" charset="0"/>
              </a:rPr>
              <a:t>7</a:t>
            </a: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50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рядків коду (приклади, завдання, рішення)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Проаналізовано і складено 7 таблиць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Використано 14 ілюстрацій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Використано 37 джерел</a:t>
            </a:r>
            <a:r>
              <a:rPr lang="uk-UA" altLang="uk-UA" sz="2400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endParaRPr lang="en-US" altLang="uk-UA" sz="24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uk-UA" sz="2400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lang="uk-UA" altLang="uk-UA" sz="2400" dirty="0">
                <a:solidFill>
                  <a:schemeClr val="tx1"/>
                </a:solidFill>
                <a:latin typeface="Georgia" panose="02040502050405020303" pitchFamily="18" charset="0"/>
              </a:rPr>
              <a:t>Описано 6 лабораторних робіт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675DD288-65BC-43F0-8F9D-224D1BCE43EA}"/>
              </a:ext>
            </a:extLst>
          </p:cNvPr>
          <p:cNvSpPr/>
          <p:nvPr/>
        </p:nvSpPr>
        <p:spPr>
          <a:xfrm rot="20395392">
            <a:off x="-1373618" y="-1031667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FB4ED65A-DC8D-429C-9A1D-03C2FCED48C2}"/>
              </a:ext>
            </a:extLst>
          </p:cNvPr>
          <p:cNvSpPr/>
          <p:nvPr/>
        </p:nvSpPr>
        <p:spPr>
          <a:xfrm rot="20395392">
            <a:off x="-1984375" y="4163258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CA1493DB-F070-4FD2-9C6E-B4FC493C45BA}"/>
              </a:ext>
            </a:extLst>
          </p:cNvPr>
          <p:cNvSpPr/>
          <p:nvPr/>
        </p:nvSpPr>
        <p:spPr>
          <a:xfrm rot="20395392">
            <a:off x="6311972" y="-1589360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B9FDCAB3-5A39-4FCE-99E7-A5BD2A077C6B}"/>
              </a:ext>
            </a:extLst>
          </p:cNvPr>
          <p:cNvSpPr/>
          <p:nvPr/>
        </p:nvSpPr>
        <p:spPr>
          <a:xfrm rot="20395392">
            <a:off x="8918205" y="3708892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2DC08713-85A0-4F2F-B05A-CB55EEB63A1C}"/>
              </a:ext>
            </a:extLst>
          </p:cNvPr>
          <p:cNvSpPr/>
          <p:nvPr/>
        </p:nvSpPr>
        <p:spPr>
          <a:xfrm rot="20395392">
            <a:off x="10714647" y="-144869"/>
            <a:ext cx="1906040" cy="1211612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483207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8249A00-DCEA-4F9A-B791-563297448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5C1E381F-B1D9-46B9-A3C3-C90948F2A815}"/>
              </a:ext>
            </a:extLst>
          </p:cNvPr>
          <p:cNvSpPr/>
          <p:nvPr/>
        </p:nvSpPr>
        <p:spPr>
          <a:xfrm rot="20395392">
            <a:off x="-88828" y="3248858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4EEB8803-14D4-40E2-8157-5497DD89A018}"/>
              </a:ext>
            </a:extLst>
          </p:cNvPr>
          <p:cNvSpPr/>
          <p:nvPr/>
        </p:nvSpPr>
        <p:spPr>
          <a:xfrm rot="20395392">
            <a:off x="7100980" y="2539144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11B3EB11-7F5E-4A0B-A643-2563A877BEA3}"/>
              </a:ext>
            </a:extLst>
          </p:cNvPr>
          <p:cNvSpPr/>
          <p:nvPr/>
        </p:nvSpPr>
        <p:spPr>
          <a:xfrm rot="20395392">
            <a:off x="3373933" y="1682316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884B9A60-E407-4DF2-9711-517372B1359E}"/>
              </a:ext>
            </a:extLst>
          </p:cNvPr>
          <p:cNvSpPr/>
          <p:nvPr/>
        </p:nvSpPr>
        <p:spPr>
          <a:xfrm rot="20395392">
            <a:off x="10193155" y="3493996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50F245C2-5BD9-4FB3-9B93-45CCBD413973}"/>
              </a:ext>
            </a:extLst>
          </p:cNvPr>
          <p:cNvSpPr/>
          <p:nvPr/>
        </p:nvSpPr>
        <p:spPr>
          <a:xfrm rot="20395392">
            <a:off x="9388908" y="627464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25B60948-B4D1-40B5-9142-F05050FF6F78}"/>
              </a:ext>
            </a:extLst>
          </p:cNvPr>
          <p:cNvSpPr/>
          <p:nvPr/>
        </p:nvSpPr>
        <p:spPr>
          <a:xfrm rot="20395392">
            <a:off x="6296732" y="-986191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CA027EA7-024F-429C-A084-277BAD6C7187}"/>
              </a:ext>
            </a:extLst>
          </p:cNvPr>
          <p:cNvSpPr/>
          <p:nvPr/>
        </p:nvSpPr>
        <p:spPr>
          <a:xfrm rot="20395392">
            <a:off x="4093493" y="3871421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11" name="Freeform 2">
            <a:extLst>
              <a:ext uri="{FF2B5EF4-FFF2-40B4-BE49-F238E27FC236}">
                <a16:creationId xmlns:a16="http://schemas.microsoft.com/office/drawing/2014/main" id="{99CCAF8A-CA21-43CF-8367-5F64FD390302}"/>
              </a:ext>
            </a:extLst>
          </p:cNvPr>
          <p:cNvSpPr/>
          <p:nvPr/>
        </p:nvSpPr>
        <p:spPr>
          <a:xfrm rot="20395392">
            <a:off x="749564" y="1626180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12" name="Freeform 2">
            <a:extLst>
              <a:ext uri="{FF2B5EF4-FFF2-40B4-BE49-F238E27FC236}">
                <a16:creationId xmlns:a16="http://schemas.microsoft.com/office/drawing/2014/main" id="{EA6FF9F1-C767-45FC-AC95-78E7631C5035}"/>
              </a:ext>
            </a:extLst>
          </p:cNvPr>
          <p:cNvSpPr/>
          <p:nvPr/>
        </p:nvSpPr>
        <p:spPr>
          <a:xfrm rot="20395392">
            <a:off x="-1599039" y="1654249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13" name="Freeform 2">
            <a:extLst>
              <a:ext uri="{FF2B5EF4-FFF2-40B4-BE49-F238E27FC236}">
                <a16:creationId xmlns:a16="http://schemas.microsoft.com/office/drawing/2014/main" id="{EE01221B-1881-4334-99B6-9779005CA4C2}"/>
              </a:ext>
            </a:extLst>
          </p:cNvPr>
          <p:cNvSpPr/>
          <p:nvPr/>
        </p:nvSpPr>
        <p:spPr>
          <a:xfrm rot="20395392">
            <a:off x="2565824" y="3483336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14" name="Freeform 2">
            <a:extLst>
              <a:ext uri="{FF2B5EF4-FFF2-40B4-BE49-F238E27FC236}">
                <a16:creationId xmlns:a16="http://schemas.microsoft.com/office/drawing/2014/main" id="{6BE0453B-1A30-44A3-8A84-BB74BDA18B78}"/>
              </a:ext>
            </a:extLst>
          </p:cNvPr>
          <p:cNvSpPr/>
          <p:nvPr/>
        </p:nvSpPr>
        <p:spPr>
          <a:xfrm rot="20395392">
            <a:off x="1038154" y="2847518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15" name="Freeform 2">
            <a:extLst>
              <a:ext uri="{FF2B5EF4-FFF2-40B4-BE49-F238E27FC236}">
                <a16:creationId xmlns:a16="http://schemas.microsoft.com/office/drawing/2014/main" id="{EB04F476-71DB-4CA0-9DC6-415895658B87}"/>
              </a:ext>
            </a:extLst>
          </p:cNvPr>
          <p:cNvSpPr/>
          <p:nvPr/>
        </p:nvSpPr>
        <p:spPr>
          <a:xfrm rot="20395392">
            <a:off x="-1674272" y="3741545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16" name="Freeform 2">
            <a:extLst>
              <a:ext uri="{FF2B5EF4-FFF2-40B4-BE49-F238E27FC236}">
                <a16:creationId xmlns:a16="http://schemas.microsoft.com/office/drawing/2014/main" id="{7F8C1779-AAFA-43AB-8B0B-23BAD0308A2C}"/>
              </a:ext>
            </a:extLst>
          </p:cNvPr>
          <p:cNvSpPr/>
          <p:nvPr/>
        </p:nvSpPr>
        <p:spPr>
          <a:xfrm rot="20395392">
            <a:off x="5903866" y="2185293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17" name="Freeform 2">
            <a:extLst>
              <a:ext uri="{FF2B5EF4-FFF2-40B4-BE49-F238E27FC236}">
                <a16:creationId xmlns:a16="http://schemas.microsoft.com/office/drawing/2014/main" id="{3883E9C8-2E0B-41F5-BE46-F86BC4E5D75A}"/>
              </a:ext>
            </a:extLst>
          </p:cNvPr>
          <p:cNvSpPr/>
          <p:nvPr/>
        </p:nvSpPr>
        <p:spPr>
          <a:xfrm rot="20395392">
            <a:off x="5903866" y="1505391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18" name="Freeform 2">
            <a:extLst>
              <a:ext uri="{FF2B5EF4-FFF2-40B4-BE49-F238E27FC236}">
                <a16:creationId xmlns:a16="http://schemas.microsoft.com/office/drawing/2014/main" id="{574F1BD7-07E8-4154-AF10-D81449343580}"/>
              </a:ext>
            </a:extLst>
          </p:cNvPr>
          <p:cNvSpPr/>
          <p:nvPr/>
        </p:nvSpPr>
        <p:spPr>
          <a:xfrm rot="20395392">
            <a:off x="6026799" y="3820047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19" name="Freeform 2">
            <a:extLst>
              <a:ext uri="{FF2B5EF4-FFF2-40B4-BE49-F238E27FC236}">
                <a16:creationId xmlns:a16="http://schemas.microsoft.com/office/drawing/2014/main" id="{A92B4392-1941-47A8-A406-369E29A7B19D}"/>
              </a:ext>
            </a:extLst>
          </p:cNvPr>
          <p:cNvSpPr/>
          <p:nvPr/>
        </p:nvSpPr>
        <p:spPr>
          <a:xfrm rot="20395392">
            <a:off x="7852271" y="4471923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20" name="Freeform 2">
            <a:extLst>
              <a:ext uri="{FF2B5EF4-FFF2-40B4-BE49-F238E27FC236}">
                <a16:creationId xmlns:a16="http://schemas.microsoft.com/office/drawing/2014/main" id="{B07115E9-75FE-42A7-A85C-75D1FBEFEDBA}"/>
              </a:ext>
            </a:extLst>
          </p:cNvPr>
          <p:cNvSpPr/>
          <p:nvPr/>
        </p:nvSpPr>
        <p:spPr>
          <a:xfrm rot="20395392">
            <a:off x="-673590" y="4893676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21" name="Freeform 2">
            <a:extLst>
              <a:ext uri="{FF2B5EF4-FFF2-40B4-BE49-F238E27FC236}">
                <a16:creationId xmlns:a16="http://schemas.microsoft.com/office/drawing/2014/main" id="{86ACEAF2-59C5-4007-9873-7F4487DE96A3}"/>
              </a:ext>
            </a:extLst>
          </p:cNvPr>
          <p:cNvSpPr/>
          <p:nvPr/>
        </p:nvSpPr>
        <p:spPr>
          <a:xfrm rot="20395392">
            <a:off x="1488653" y="4589990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22" name="Freeform 2">
            <a:extLst>
              <a:ext uri="{FF2B5EF4-FFF2-40B4-BE49-F238E27FC236}">
                <a16:creationId xmlns:a16="http://schemas.microsoft.com/office/drawing/2014/main" id="{F4066CEE-53FF-49CC-B642-F3C3EFBEF739}"/>
              </a:ext>
            </a:extLst>
          </p:cNvPr>
          <p:cNvSpPr/>
          <p:nvPr/>
        </p:nvSpPr>
        <p:spPr>
          <a:xfrm rot="20395392">
            <a:off x="4473186" y="4582051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23" name="Freeform 2">
            <a:extLst>
              <a:ext uri="{FF2B5EF4-FFF2-40B4-BE49-F238E27FC236}">
                <a16:creationId xmlns:a16="http://schemas.microsoft.com/office/drawing/2014/main" id="{8DDC5FB0-0852-4EB4-96B3-A8CE215BD645}"/>
              </a:ext>
            </a:extLst>
          </p:cNvPr>
          <p:cNvSpPr/>
          <p:nvPr/>
        </p:nvSpPr>
        <p:spPr>
          <a:xfrm rot="20395392">
            <a:off x="9864673" y="4839788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24" name="Freeform 2">
            <a:extLst>
              <a:ext uri="{FF2B5EF4-FFF2-40B4-BE49-F238E27FC236}">
                <a16:creationId xmlns:a16="http://schemas.microsoft.com/office/drawing/2014/main" id="{B7A1EA44-9499-4617-8796-5992AA9EC0BD}"/>
              </a:ext>
            </a:extLst>
          </p:cNvPr>
          <p:cNvSpPr/>
          <p:nvPr/>
        </p:nvSpPr>
        <p:spPr>
          <a:xfrm rot="20395392">
            <a:off x="9438965" y="2293886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25" name="Freeform 2">
            <a:extLst>
              <a:ext uri="{FF2B5EF4-FFF2-40B4-BE49-F238E27FC236}">
                <a16:creationId xmlns:a16="http://schemas.microsoft.com/office/drawing/2014/main" id="{EEDF216A-DC1B-41DE-A8A8-CD599344C866}"/>
              </a:ext>
            </a:extLst>
          </p:cNvPr>
          <p:cNvSpPr/>
          <p:nvPr/>
        </p:nvSpPr>
        <p:spPr>
          <a:xfrm rot="20395392">
            <a:off x="7910964" y="1505390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26" name="Freeform 2">
            <a:extLst>
              <a:ext uri="{FF2B5EF4-FFF2-40B4-BE49-F238E27FC236}">
                <a16:creationId xmlns:a16="http://schemas.microsoft.com/office/drawing/2014/main" id="{7D817FA3-A15F-455B-BE95-4FDBBD3601B8}"/>
              </a:ext>
            </a:extLst>
          </p:cNvPr>
          <p:cNvSpPr/>
          <p:nvPr/>
        </p:nvSpPr>
        <p:spPr>
          <a:xfrm rot="20395392">
            <a:off x="7602165" y="125481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27" name="Freeform 2">
            <a:extLst>
              <a:ext uri="{FF2B5EF4-FFF2-40B4-BE49-F238E27FC236}">
                <a16:creationId xmlns:a16="http://schemas.microsoft.com/office/drawing/2014/main" id="{27D053F9-82C7-409E-92E8-6BA955B55B58}"/>
              </a:ext>
            </a:extLst>
          </p:cNvPr>
          <p:cNvSpPr/>
          <p:nvPr/>
        </p:nvSpPr>
        <p:spPr>
          <a:xfrm rot="20395392">
            <a:off x="9577384" y="-406290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28" name="Freeform 2">
            <a:extLst>
              <a:ext uri="{FF2B5EF4-FFF2-40B4-BE49-F238E27FC236}">
                <a16:creationId xmlns:a16="http://schemas.microsoft.com/office/drawing/2014/main" id="{568E303A-5AD8-4C78-B67C-468852EA45F9}"/>
              </a:ext>
            </a:extLst>
          </p:cNvPr>
          <p:cNvSpPr/>
          <p:nvPr/>
        </p:nvSpPr>
        <p:spPr>
          <a:xfrm rot="20395392">
            <a:off x="4971184" y="-27727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29" name="Freeform 2">
            <a:extLst>
              <a:ext uri="{FF2B5EF4-FFF2-40B4-BE49-F238E27FC236}">
                <a16:creationId xmlns:a16="http://schemas.microsoft.com/office/drawing/2014/main" id="{703FC7C3-F713-4916-BC4D-8FD02AD730A6}"/>
              </a:ext>
            </a:extLst>
          </p:cNvPr>
          <p:cNvSpPr/>
          <p:nvPr/>
        </p:nvSpPr>
        <p:spPr>
          <a:xfrm rot="20395392">
            <a:off x="63572" y="3401258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3D9087-34B9-4E1B-B4BF-5F748DBBB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864" y="2150125"/>
            <a:ext cx="10058400" cy="1450757"/>
          </a:xfrm>
        </p:spPr>
        <p:txBody>
          <a:bodyPr/>
          <a:lstStyle/>
          <a:p>
            <a:pPr algn="ctr"/>
            <a:r>
              <a:rPr lang="uk-UA" dirty="0"/>
              <a:t>Дякую за увагу</a:t>
            </a:r>
          </a:p>
        </p:txBody>
      </p:sp>
      <p:sp>
        <p:nvSpPr>
          <p:cNvPr id="30" name="Freeform 2">
            <a:extLst>
              <a:ext uri="{FF2B5EF4-FFF2-40B4-BE49-F238E27FC236}">
                <a16:creationId xmlns:a16="http://schemas.microsoft.com/office/drawing/2014/main" id="{BE60FAEB-585C-4D53-B170-8B68FACAEC50}"/>
              </a:ext>
            </a:extLst>
          </p:cNvPr>
          <p:cNvSpPr/>
          <p:nvPr/>
        </p:nvSpPr>
        <p:spPr>
          <a:xfrm rot="20395392">
            <a:off x="1099620" y="273466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31" name="Freeform 2">
            <a:extLst>
              <a:ext uri="{FF2B5EF4-FFF2-40B4-BE49-F238E27FC236}">
                <a16:creationId xmlns:a16="http://schemas.microsoft.com/office/drawing/2014/main" id="{62D9ABBC-CB83-4553-B35B-2C6EE258A220}"/>
              </a:ext>
            </a:extLst>
          </p:cNvPr>
          <p:cNvSpPr/>
          <p:nvPr/>
        </p:nvSpPr>
        <p:spPr>
          <a:xfrm rot="20395392">
            <a:off x="3945495" y="-131313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32" name="Freeform 2">
            <a:extLst>
              <a:ext uri="{FF2B5EF4-FFF2-40B4-BE49-F238E27FC236}">
                <a16:creationId xmlns:a16="http://schemas.microsoft.com/office/drawing/2014/main" id="{77E0DC7A-28DB-4202-A679-5F900D1F87EA}"/>
              </a:ext>
            </a:extLst>
          </p:cNvPr>
          <p:cNvSpPr/>
          <p:nvPr/>
        </p:nvSpPr>
        <p:spPr>
          <a:xfrm rot="20395392">
            <a:off x="451028" y="-27555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33" name="Freeform 2">
            <a:extLst>
              <a:ext uri="{FF2B5EF4-FFF2-40B4-BE49-F238E27FC236}">
                <a16:creationId xmlns:a16="http://schemas.microsoft.com/office/drawing/2014/main" id="{DE8EB4D1-B01F-4030-B212-6394AEAAA876}"/>
              </a:ext>
            </a:extLst>
          </p:cNvPr>
          <p:cNvSpPr/>
          <p:nvPr/>
        </p:nvSpPr>
        <p:spPr>
          <a:xfrm rot="20395392">
            <a:off x="-859129" y="-690106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34" name="Freeform 2">
            <a:extLst>
              <a:ext uri="{FF2B5EF4-FFF2-40B4-BE49-F238E27FC236}">
                <a16:creationId xmlns:a16="http://schemas.microsoft.com/office/drawing/2014/main" id="{F4EFAB19-40B1-4AC0-B0B2-C8864A705DC0}"/>
              </a:ext>
            </a:extLst>
          </p:cNvPr>
          <p:cNvSpPr/>
          <p:nvPr/>
        </p:nvSpPr>
        <p:spPr>
          <a:xfrm rot="20395392">
            <a:off x="-876568" y="-6416636"/>
            <a:ext cx="1057379" cy="896128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35" name="Freeform 2">
            <a:extLst>
              <a:ext uri="{FF2B5EF4-FFF2-40B4-BE49-F238E27FC236}">
                <a16:creationId xmlns:a16="http://schemas.microsoft.com/office/drawing/2014/main" id="{71360A50-6777-4DCC-AD41-F1F53961CBA7}"/>
              </a:ext>
            </a:extLst>
          </p:cNvPr>
          <p:cNvSpPr/>
          <p:nvPr/>
        </p:nvSpPr>
        <p:spPr>
          <a:xfrm rot="20395392">
            <a:off x="1872708" y="-812335"/>
            <a:ext cx="3341399" cy="2636540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36" name="Freeform 2">
            <a:extLst>
              <a:ext uri="{FF2B5EF4-FFF2-40B4-BE49-F238E27FC236}">
                <a16:creationId xmlns:a16="http://schemas.microsoft.com/office/drawing/2014/main" id="{B80CD27B-B61E-4DD3-9BD0-76DCE81DD709}"/>
              </a:ext>
            </a:extLst>
          </p:cNvPr>
          <p:cNvSpPr/>
          <p:nvPr/>
        </p:nvSpPr>
        <p:spPr>
          <a:xfrm rot="20395392">
            <a:off x="-1857606" y="-4247664"/>
            <a:ext cx="1057379" cy="896128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37" name="Freeform 2">
            <a:extLst>
              <a:ext uri="{FF2B5EF4-FFF2-40B4-BE49-F238E27FC236}">
                <a16:creationId xmlns:a16="http://schemas.microsoft.com/office/drawing/2014/main" id="{2A4AA7D6-F2B0-4224-8F7B-8B05FA84C7E3}"/>
              </a:ext>
            </a:extLst>
          </p:cNvPr>
          <p:cNvSpPr/>
          <p:nvPr/>
        </p:nvSpPr>
        <p:spPr>
          <a:xfrm rot="20395392">
            <a:off x="1167296" y="-5926277"/>
            <a:ext cx="1057379" cy="2821383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38" name="Freeform 2">
            <a:extLst>
              <a:ext uri="{FF2B5EF4-FFF2-40B4-BE49-F238E27FC236}">
                <a16:creationId xmlns:a16="http://schemas.microsoft.com/office/drawing/2014/main" id="{F704EEE6-1F76-409E-95D6-9E58FA31A2BF}"/>
              </a:ext>
            </a:extLst>
          </p:cNvPr>
          <p:cNvSpPr/>
          <p:nvPr/>
        </p:nvSpPr>
        <p:spPr>
          <a:xfrm rot="20395392">
            <a:off x="1319696" y="-5773877"/>
            <a:ext cx="1057379" cy="2821383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39" name="Freeform 2">
            <a:extLst>
              <a:ext uri="{FF2B5EF4-FFF2-40B4-BE49-F238E27FC236}">
                <a16:creationId xmlns:a16="http://schemas.microsoft.com/office/drawing/2014/main" id="{4207DFE6-D2A5-4E96-8B95-64E1FF1C0F4A}"/>
              </a:ext>
            </a:extLst>
          </p:cNvPr>
          <p:cNvSpPr/>
          <p:nvPr/>
        </p:nvSpPr>
        <p:spPr>
          <a:xfrm rot="20395392">
            <a:off x="1472096" y="-5621477"/>
            <a:ext cx="1057379" cy="2821383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40" name="Freeform 2">
            <a:extLst>
              <a:ext uri="{FF2B5EF4-FFF2-40B4-BE49-F238E27FC236}">
                <a16:creationId xmlns:a16="http://schemas.microsoft.com/office/drawing/2014/main" id="{3C645EEF-1352-425C-B3F7-2B7FBCDDED3A}"/>
              </a:ext>
            </a:extLst>
          </p:cNvPr>
          <p:cNvSpPr/>
          <p:nvPr/>
        </p:nvSpPr>
        <p:spPr>
          <a:xfrm rot="20395392">
            <a:off x="437014" y="-4798687"/>
            <a:ext cx="1057379" cy="2821383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41" name="Freeform 2">
            <a:extLst>
              <a:ext uri="{FF2B5EF4-FFF2-40B4-BE49-F238E27FC236}">
                <a16:creationId xmlns:a16="http://schemas.microsoft.com/office/drawing/2014/main" id="{F92EB0EF-CD3A-46FC-BEDF-D9F35B93F224}"/>
              </a:ext>
            </a:extLst>
          </p:cNvPr>
          <p:cNvSpPr/>
          <p:nvPr/>
        </p:nvSpPr>
        <p:spPr>
          <a:xfrm rot="20395392">
            <a:off x="1897970" y="-4128734"/>
            <a:ext cx="1057379" cy="2821383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42" name="Freeform 2">
            <a:extLst>
              <a:ext uri="{FF2B5EF4-FFF2-40B4-BE49-F238E27FC236}">
                <a16:creationId xmlns:a16="http://schemas.microsoft.com/office/drawing/2014/main" id="{DD169606-8F0C-4348-AF78-84017018323E}"/>
              </a:ext>
            </a:extLst>
          </p:cNvPr>
          <p:cNvSpPr/>
          <p:nvPr/>
        </p:nvSpPr>
        <p:spPr>
          <a:xfrm rot="20395392">
            <a:off x="2843699" y="-3731236"/>
            <a:ext cx="1057379" cy="2821383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43" name="Freeform 2">
            <a:extLst>
              <a:ext uri="{FF2B5EF4-FFF2-40B4-BE49-F238E27FC236}">
                <a16:creationId xmlns:a16="http://schemas.microsoft.com/office/drawing/2014/main" id="{A9100EAD-9E3C-4B5D-B421-4CB5BCEAF673}"/>
              </a:ext>
            </a:extLst>
          </p:cNvPr>
          <p:cNvSpPr/>
          <p:nvPr/>
        </p:nvSpPr>
        <p:spPr>
          <a:xfrm rot="20395392">
            <a:off x="3788039" y="-4891120"/>
            <a:ext cx="1057379" cy="2821383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44" name="Freeform 2">
            <a:extLst>
              <a:ext uri="{FF2B5EF4-FFF2-40B4-BE49-F238E27FC236}">
                <a16:creationId xmlns:a16="http://schemas.microsoft.com/office/drawing/2014/main" id="{887CC48F-1073-4280-B26F-43C5BB280C95}"/>
              </a:ext>
            </a:extLst>
          </p:cNvPr>
          <p:cNvSpPr/>
          <p:nvPr/>
        </p:nvSpPr>
        <p:spPr>
          <a:xfrm rot="20395392">
            <a:off x="1014895" y="-4493054"/>
            <a:ext cx="1057379" cy="2821383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45" name="Freeform 2">
            <a:extLst>
              <a:ext uri="{FF2B5EF4-FFF2-40B4-BE49-F238E27FC236}">
                <a16:creationId xmlns:a16="http://schemas.microsoft.com/office/drawing/2014/main" id="{C2D935EE-CCA7-40F9-AA9D-AEA4F3B2F78C}"/>
              </a:ext>
            </a:extLst>
          </p:cNvPr>
          <p:cNvSpPr/>
          <p:nvPr/>
        </p:nvSpPr>
        <p:spPr>
          <a:xfrm rot="20395392">
            <a:off x="1502970" y="-3488028"/>
            <a:ext cx="1057379" cy="2821383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46" name="Freeform 2">
            <a:extLst>
              <a:ext uri="{FF2B5EF4-FFF2-40B4-BE49-F238E27FC236}">
                <a16:creationId xmlns:a16="http://schemas.microsoft.com/office/drawing/2014/main" id="{55945486-A303-4B90-8F3D-FCC62969BBE6}"/>
              </a:ext>
            </a:extLst>
          </p:cNvPr>
          <p:cNvSpPr/>
          <p:nvPr/>
        </p:nvSpPr>
        <p:spPr>
          <a:xfrm rot="20395392">
            <a:off x="64944" y="-3892135"/>
            <a:ext cx="1057379" cy="2821383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47" name="Freeform 2">
            <a:extLst>
              <a:ext uri="{FF2B5EF4-FFF2-40B4-BE49-F238E27FC236}">
                <a16:creationId xmlns:a16="http://schemas.microsoft.com/office/drawing/2014/main" id="{BEB42281-0EA1-49B9-8FF5-E4287B3852B2}"/>
              </a:ext>
            </a:extLst>
          </p:cNvPr>
          <p:cNvSpPr/>
          <p:nvPr/>
        </p:nvSpPr>
        <p:spPr>
          <a:xfrm rot="20395392">
            <a:off x="7029215" y="-5552986"/>
            <a:ext cx="1057379" cy="2821383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48" name="Freeform 2">
            <a:extLst>
              <a:ext uri="{FF2B5EF4-FFF2-40B4-BE49-F238E27FC236}">
                <a16:creationId xmlns:a16="http://schemas.microsoft.com/office/drawing/2014/main" id="{5E51397E-67E1-4E1C-9283-3C461BDDF212}"/>
              </a:ext>
            </a:extLst>
          </p:cNvPr>
          <p:cNvSpPr/>
          <p:nvPr/>
        </p:nvSpPr>
        <p:spPr>
          <a:xfrm rot="20395392">
            <a:off x="6327623" y="-4791534"/>
            <a:ext cx="1057379" cy="2821383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49" name="Freeform 2">
            <a:extLst>
              <a:ext uri="{FF2B5EF4-FFF2-40B4-BE49-F238E27FC236}">
                <a16:creationId xmlns:a16="http://schemas.microsoft.com/office/drawing/2014/main" id="{6ED422B8-6AE1-4BCF-90EE-F54A29D7D3EF}"/>
              </a:ext>
            </a:extLst>
          </p:cNvPr>
          <p:cNvSpPr/>
          <p:nvPr/>
        </p:nvSpPr>
        <p:spPr>
          <a:xfrm rot="20395392">
            <a:off x="6263016" y="-4456749"/>
            <a:ext cx="1057379" cy="2821383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50" name="Freeform 2">
            <a:extLst>
              <a:ext uri="{FF2B5EF4-FFF2-40B4-BE49-F238E27FC236}">
                <a16:creationId xmlns:a16="http://schemas.microsoft.com/office/drawing/2014/main" id="{311ED2BC-1991-420F-9F76-EA98654D9588}"/>
              </a:ext>
            </a:extLst>
          </p:cNvPr>
          <p:cNvSpPr/>
          <p:nvPr/>
        </p:nvSpPr>
        <p:spPr>
          <a:xfrm rot="20395392">
            <a:off x="8617733" y="-4425233"/>
            <a:ext cx="1057379" cy="2821383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51" name="Freeform 2">
            <a:extLst>
              <a:ext uri="{FF2B5EF4-FFF2-40B4-BE49-F238E27FC236}">
                <a16:creationId xmlns:a16="http://schemas.microsoft.com/office/drawing/2014/main" id="{8AAED9A9-FC58-4AAB-9368-C925F547C0AE}"/>
              </a:ext>
            </a:extLst>
          </p:cNvPr>
          <p:cNvSpPr/>
          <p:nvPr/>
        </p:nvSpPr>
        <p:spPr>
          <a:xfrm rot="20395392">
            <a:off x="7459234" y="-2796332"/>
            <a:ext cx="696929" cy="1949248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52" name="Freeform 2">
            <a:extLst>
              <a:ext uri="{FF2B5EF4-FFF2-40B4-BE49-F238E27FC236}">
                <a16:creationId xmlns:a16="http://schemas.microsoft.com/office/drawing/2014/main" id="{8BACAE09-765F-49C2-98D9-C24B2A787F5A}"/>
              </a:ext>
            </a:extLst>
          </p:cNvPr>
          <p:cNvSpPr/>
          <p:nvPr/>
        </p:nvSpPr>
        <p:spPr>
          <a:xfrm rot="20395392">
            <a:off x="4702441" y="-5515090"/>
            <a:ext cx="1057379" cy="2821383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53" name="Freeform 2">
            <a:extLst>
              <a:ext uri="{FF2B5EF4-FFF2-40B4-BE49-F238E27FC236}">
                <a16:creationId xmlns:a16="http://schemas.microsoft.com/office/drawing/2014/main" id="{1385AE03-E380-4DC7-8EA7-4BF8E0DA1F61}"/>
              </a:ext>
            </a:extLst>
          </p:cNvPr>
          <p:cNvSpPr/>
          <p:nvPr/>
        </p:nvSpPr>
        <p:spPr>
          <a:xfrm rot="20395392">
            <a:off x="4854841" y="-5362690"/>
            <a:ext cx="1057379" cy="2821383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54" name="Freeform 2">
            <a:extLst>
              <a:ext uri="{FF2B5EF4-FFF2-40B4-BE49-F238E27FC236}">
                <a16:creationId xmlns:a16="http://schemas.microsoft.com/office/drawing/2014/main" id="{50837CF5-2ADB-4C9A-B045-5CE1377BA9B6}"/>
              </a:ext>
            </a:extLst>
          </p:cNvPr>
          <p:cNvSpPr/>
          <p:nvPr/>
        </p:nvSpPr>
        <p:spPr>
          <a:xfrm rot="20395392">
            <a:off x="5344954" y="-3332184"/>
            <a:ext cx="1057379" cy="1921376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55" name="Freeform 2">
            <a:extLst>
              <a:ext uri="{FF2B5EF4-FFF2-40B4-BE49-F238E27FC236}">
                <a16:creationId xmlns:a16="http://schemas.microsoft.com/office/drawing/2014/main" id="{F8C4C452-8892-44A5-92FD-3AFB3308A1F4}"/>
              </a:ext>
            </a:extLst>
          </p:cNvPr>
          <p:cNvSpPr/>
          <p:nvPr/>
        </p:nvSpPr>
        <p:spPr>
          <a:xfrm rot="20395392">
            <a:off x="4461142" y="-4113840"/>
            <a:ext cx="1057379" cy="2821383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56" name="Freeform 2">
            <a:extLst>
              <a:ext uri="{FF2B5EF4-FFF2-40B4-BE49-F238E27FC236}">
                <a16:creationId xmlns:a16="http://schemas.microsoft.com/office/drawing/2014/main" id="{62604E4E-7518-4682-934F-02360F3A3A23}"/>
              </a:ext>
            </a:extLst>
          </p:cNvPr>
          <p:cNvSpPr/>
          <p:nvPr/>
        </p:nvSpPr>
        <p:spPr>
          <a:xfrm rot="20395392">
            <a:off x="5553319" y="-3392209"/>
            <a:ext cx="1057379" cy="2821383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57" name="Freeform 2">
            <a:extLst>
              <a:ext uri="{FF2B5EF4-FFF2-40B4-BE49-F238E27FC236}">
                <a16:creationId xmlns:a16="http://schemas.microsoft.com/office/drawing/2014/main" id="{87E21F68-1320-4A84-8A57-68D5727BFCD2}"/>
              </a:ext>
            </a:extLst>
          </p:cNvPr>
          <p:cNvSpPr/>
          <p:nvPr/>
        </p:nvSpPr>
        <p:spPr>
          <a:xfrm rot="20395392">
            <a:off x="9431147" y="-4798686"/>
            <a:ext cx="1057379" cy="2821383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58" name="Freeform 2">
            <a:extLst>
              <a:ext uri="{FF2B5EF4-FFF2-40B4-BE49-F238E27FC236}">
                <a16:creationId xmlns:a16="http://schemas.microsoft.com/office/drawing/2014/main" id="{8EB692CA-C68E-4160-AA50-A29F1BA453F6}"/>
              </a:ext>
            </a:extLst>
          </p:cNvPr>
          <p:cNvSpPr/>
          <p:nvPr/>
        </p:nvSpPr>
        <p:spPr>
          <a:xfrm rot="20395392">
            <a:off x="10193826" y="-3456340"/>
            <a:ext cx="1057379" cy="2821383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59" name="Freeform 2">
            <a:extLst>
              <a:ext uri="{FF2B5EF4-FFF2-40B4-BE49-F238E27FC236}">
                <a16:creationId xmlns:a16="http://schemas.microsoft.com/office/drawing/2014/main" id="{F576AFC0-C9AC-43F2-80AC-E9ED441F09F8}"/>
              </a:ext>
            </a:extLst>
          </p:cNvPr>
          <p:cNvSpPr/>
          <p:nvPr/>
        </p:nvSpPr>
        <p:spPr>
          <a:xfrm rot="20395392">
            <a:off x="9707866" y="-3793620"/>
            <a:ext cx="1057379" cy="2821383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60" name="Freeform 2">
            <a:extLst>
              <a:ext uri="{FF2B5EF4-FFF2-40B4-BE49-F238E27FC236}">
                <a16:creationId xmlns:a16="http://schemas.microsoft.com/office/drawing/2014/main" id="{F05E56CA-AC11-4CD7-8B27-449D573871E2}"/>
              </a:ext>
            </a:extLst>
          </p:cNvPr>
          <p:cNvSpPr/>
          <p:nvPr/>
        </p:nvSpPr>
        <p:spPr>
          <a:xfrm rot="20395392">
            <a:off x="10901484" y="-3850587"/>
            <a:ext cx="1057379" cy="2821383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  <p:sp>
        <p:nvSpPr>
          <p:cNvPr id="61" name="Freeform 2">
            <a:extLst>
              <a:ext uri="{FF2B5EF4-FFF2-40B4-BE49-F238E27FC236}">
                <a16:creationId xmlns:a16="http://schemas.microsoft.com/office/drawing/2014/main" id="{697A3762-4E14-4F73-A7E2-CB88557C3BAF}"/>
              </a:ext>
            </a:extLst>
          </p:cNvPr>
          <p:cNvSpPr/>
          <p:nvPr/>
        </p:nvSpPr>
        <p:spPr>
          <a:xfrm rot="20395392">
            <a:off x="8907994" y="-3070067"/>
            <a:ext cx="1057379" cy="2821383"/>
          </a:xfrm>
          <a:custGeom>
            <a:avLst/>
            <a:gdLst/>
            <a:ahLst/>
            <a:cxnLst/>
            <a:rect l="l" t="t" r="r" b="b"/>
            <a:pathLst>
              <a:path w="11505544" h="11045322">
                <a:moveTo>
                  <a:pt x="0" y="0"/>
                </a:moveTo>
                <a:lnTo>
                  <a:pt x="11505544" y="0"/>
                </a:lnTo>
                <a:lnTo>
                  <a:pt x="11505544" y="11045322"/>
                </a:lnTo>
                <a:lnTo>
                  <a:pt x="0" y="110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142306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decel="100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" decel="100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" decel="100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" decel="100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" decel="100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" decel="100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" decel="100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" decel="100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" decel="100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" decel="100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" decel="100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" decel="100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" decel="1000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" decel="1000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" decel="100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" decel="100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" decel="1000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" decel="100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</p:bldLst>
  </p:timing>
</p:sld>
</file>

<file path=ppt/theme/theme1.xml><?xml version="1.0" encoding="utf-8"?>
<a:theme xmlns:a="http://schemas.openxmlformats.org/drawingml/2006/main" name="Ретроспектива">
  <a:themeElements>
    <a:clrScheme name="Червоно-оранжева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Ретроспектива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спектива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1949</TotalTime>
  <Words>538</Words>
  <Application>Microsoft Office PowerPoint</Application>
  <PresentationFormat>Широкий екран</PresentationFormat>
  <Paragraphs>95</Paragraphs>
  <Slides>15</Slides>
  <Notes>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15</vt:i4>
      </vt:variant>
    </vt:vector>
  </HeadingPairs>
  <TitlesOfParts>
    <vt:vector size="22" baseType="lpstr">
      <vt:lpstr>Calibri</vt:lpstr>
      <vt:lpstr>Calibri Light</vt:lpstr>
      <vt:lpstr>Courier New</vt:lpstr>
      <vt:lpstr>Georgia</vt:lpstr>
      <vt:lpstr>Times New Roman</vt:lpstr>
      <vt:lpstr>Wingdings</vt:lpstr>
      <vt:lpstr>Ретроспектива</vt:lpstr>
      <vt:lpstr>Презентація PowerPoint</vt:lpstr>
      <vt:lpstr>Презентація PowerPoint</vt:lpstr>
      <vt:lpstr>Чому Java?</vt:lpstr>
      <vt:lpstr>Чому ці фреймворки для тестування?</vt:lpstr>
      <vt:lpstr>Які ще варіанти програм для тестування були розглянуті?</vt:lpstr>
      <vt:lpstr>Які види і методи тестування існують?</vt:lpstr>
      <vt:lpstr>Презентація PowerPoint</vt:lpstr>
      <vt:lpstr>Який фреймворк для розробки використовувати?</vt:lpstr>
      <vt:lpstr>Що таке JUnit 5?</vt:lpstr>
      <vt:lpstr>Що таке Mockito?</vt:lpstr>
      <vt:lpstr>Що таке Hamcrest?</vt:lpstr>
      <vt:lpstr>Лабораторні роботи</vt:lpstr>
      <vt:lpstr>Який результат виконання роботи?</vt:lpstr>
      <vt:lpstr>І трохи статистики</vt:lpstr>
      <vt:lpstr>Дякую за увагу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ЗАСТОСУВАННЯ СУЧАСНИХ ІНСТРУМЕНТІВ ТА БІБЛІОТЕК ДЛЯ АВТОМАТИЗАЦІЇ ТЕСТУВАННЯ ПРОГРАМНОГО ЗАБЕЗПЕЧЕННЯ НА ПЛАТФОРМІ JAVA</dc:title>
  <dc:creator>Шейко Ростислав Олександрович</dc:creator>
  <cp:lastModifiedBy>Шейко Ростислав Олександрович</cp:lastModifiedBy>
  <cp:revision>48</cp:revision>
  <dcterms:created xsi:type="dcterms:W3CDTF">2025-06-14T10:08:12Z</dcterms:created>
  <dcterms:modified xsi:type="dcterms:W3CDTF">2025-06-15T19:11:51Z</dcterms:modified>
</cp:coreProperties>
</file>